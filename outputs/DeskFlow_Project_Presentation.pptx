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1"/>
    <p:restoredTop sz="94658"/>
  </p:normalViewPr>
  <p:slideViewPr>
    <p:cSldViewPr snapToGrid="0">
      <p:cViewPr>
        <p:scale>
          <a:sx n="103" d="100"/>
          <a:sy n="103" d="100"/>
        </p:scale>
        <p:origin x="744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5D9731D-5D1C-491F-BCF1-3B228FF01926}"/>
              </a:ext>
            </a:extLst>
          </p:cNvPr>
          <p:cNvSpPr>
            <a:spLocks noGrp="1"/>
          </p:cNvSpPr>
          <p:nvPr/>
        </p:nvSpPr>
        <p:spPr>
          <a:xfrm>
            <a:off x="590550" y="47625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DESKFLOW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BCE4930-A503-4D2B-9EB1-D1C4FB64614E}"/>
              </a:ext>
            </a:extLst>
          </p:cNvPr>
          <p:cNvSpPr>
            <a:spLocks noGrp="1"/>
          </p:cNvSpPr>
          <p:nvPr/>
        </p:nvSpPr>
        <p:spPr>
          <a:xfrm>
            <a:off x="9620250" y="495300"/>
            <a:ext cx="1952625" cy="304800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 w="9525">
            <a:solidFill>
              <a:srgbClr val="DF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A6C807-5A62-461A-B293-7C8244AF8FA4}"/>
              </a:ext>
            </a:extLst>
          </p:cNvPr>
          <p:cNvSpPr>
            <a:spLocks noGrp="1"/>
          </p:cNvSpPr>
          <p:nvPr/>
        </p:nvSpPr>
        <p:spPr>
          <a:xfrm>
            <a:off x="9620250" y="571500"/>
            <a:ext cx="19526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ctr">
              <a:defRPr sz="10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PROJECT PRESENTATION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AFE46-5AF1-4929-87D8-8653A65A3E74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7524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54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A desk,</a:t>
            </a:r>
          </a:p>
          <a:p>
            <a:pPr algn="l">
              <a:defRPr sz="54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when you need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CB4A17-3230-483B-AE5E-22C9FDF2CD35}"/>
              </a:ext>
            </a:extLst>
          </p:cNvPr>
          <p:cNvSpPr>
            <a:spLocks noGrp="1"/>
          </p:cNvSpPr>
          <p:nvPr/>
        </p:nvSpPr>
        <p:spPr>
          <a:xfrm>
            <a:off x="619125" y="3743325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Hot-desk booking for the Helsinki office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B1F5E-3B5D-46E0-B7C2-CB4144796861}"/>
              </a:ext>
            </a:extLst>
          </p:cNvPr>
          <p:cNvSpPr>
            <a:spLocks noGrp="1"/>
          </p:cNvSpPr>
          <p:nvPr/>
        </p:nvSpPr>
        <p:spPr>
          <a:xfrm>
            <a:off x="619125" y="4657725"/>
            <a:ext cx="5238750" cy="19050"/>
          </a:xfrm>
          <a:prstGeom prst="rect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FCD076-A16B-455A-996B-0F92684B85F8}"/>
              </a:ext>
            </a:extLst>
          </p:cNvPr>
          <p:cNvSpPr>
            <a:spLocks noGrp="1"/>
          </p:cNvSpPr>
          <p:nvPr/>
        </p:nvSpPr>
        <p:spPr>
          <a:xfrm>
            <a:off x="619125" y="50292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Team: DeskFlow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1DE4A3-36F3-4305-A3B4-6678BC362353}"/>
              </a:ext>
            </a:extLst>
          </p:cNvPr>
          <p:cNvSpPr>
            <a:spLocks noGrp="1"/>
          </p:cNvSpPr>
          <p:nvPr/>
        </p:nvSpPr>
        <p:spPr>
          <a:xfrm>
            <a:off x="619125" y="5419725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Spring Boot · JDBC · MySQL · Vanilla JavaScript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DCB9BB6-DB33-42DE-B50B-6950921334EE}"/>
              </a:ext>
            </a:extLst>
          </p:cNvPr>
          <p:cNvSpPr>
            <a:spLocks noGrp="1"/>
          </p:cNvSpPr>
          <p:nvPr/>
        </p:nvSpPr>
        <p:spPr>
          <a:xfrm>
            <a:off x="8382000" y="1724025"/>
            <a:ext cx="2667000" cy="3143250"/>
          </a:xfrm>
          <a:prstGeom prst="roundRect">
            <a:avLst>
              <a:gd name="adj" fmla="val 4286"/>
            </a:avLst>
          </a:prstGeom>
          <a:solidFill>
            <a:srgbClr val="274B3E"/>
          </a:solidFill>
          <a:ln w="9525">
            <a:solidFill>
              <a:srgbClr val="274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321DEB-EF40-4F26-80A2-35477A245D8E}"/>
              </a:ext>
            </a:extLst>
          </p:cNvPr>
          <p:cNvSpPr>
            <a:spLocks noGrp="1"/>
          </p:cNvSpPr>
          <p:nvPr/>
        </p:nvSpPr>
        <p:spPr>
          <a:xfrm>
            <a:off x="8705850" y="2114550"/>
            <a:ext cx="2047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HELSINKI</a:t>
            </a:r>
          </a:p>
          <a:p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OFFICE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AB07EDC-53EF-4E11-AD99-AE4679092DB4}"/>
              </a:ext>
            </a:extLst>
          </p:cNvPr>
          <p:cNvSpPr>
            <a:spLocks noGrp="1"/>
          </p:cNvSpPr>
          <p:nvPr/>
        </p:nvSpPr>
        <p:spPr>
          <a:xfrm>
            <a:off x="8705850" y="3171825"/>
            <a:ext cx="742950" cy="323850"/>
          </a:xfrm>
          <a:prstGeom prst="roundRect">
            <a:avLst>
              <a:gd name="adj" fmla="val 5882"/>
            </a:avLst>
          </a:prstGeom>
          <a:solidFill>
            <a:srgbClr val="416757"/>
          </a:solidFill>
          <a:ln w="9525">
            <a:solidFill>
              <a:srgbClr val="416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9F4B313-BB6A-4E4E-867D-F4BA5CCE896D}"/>
              </a:ext>
            </a:extLst>
          </p:cNvPr>
          <p:cNvSpPr>
            <a:spLocks noGrp="1"/>
          </p:cNvSpPr>
          <p:nvPr/>
        </p:nvSpPr>
        <p:spPr>
          <a:xfrm>
            <a:off x="9715500" y="3171825"/>
            <a:ext cx="742950" cy="323850"/>
          </a:xfrm>
          <a:prstGeom prst="roundRect">
            <a:avLst>
              <a:gd name="adj" fmla="val 5882"/>
            </a:avLst>
          </a:prstGeom>
          <a:solidFill>
            <a:srgbClr val="416757"/>
          </a:solidFill>
          <a:ln w="9525">
            <a:solidFill>
              <a:srgbClr val="416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7B5EC14-EA65-43CA-9989-0039875935C8}"/>
              </a:ext>
            </a:extLst>
          </p:cNvPr>
          <p:cNvSpPr>
            <a:spLocks noGrp="1"/>
          </p:cNvSpPr>
          <p:nvPr/>
        </p:nvSpPr>
        <p:spPr>
          <a:xfrm>
            <a:off x="8705850" y="3667125"/>
            <a:ext cx="742950" cy="323850"/>
          </a:xfrm>
          <a:prstGeom prst="roundRect">
            <a:avLst>
              <a:gd name="adj" fmla="val 5882"/>
            </a:avLst>
          </a:prstGeom>
          <a:solidFill>
            <a:srgbClr val="0D7C59"/>
          </a:solidFill>
          <a:ln w="9525">
            <a:solidFill>
              <a:srgbClr val="416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43CF22-8C16-4F4B-92CD-DFF60CDF68FE}"/>
              </a:ext>
            </a:extLst>
          </p:cNvPr>
          <p:cNvSpPr>
            <a:spLocks noGrp="1"/>
          </p:cNvSpPr>
          <p:nvPr/>
        </p:nvSpPr>
        <p:spPr>
          <a:xfrm>
            <a:off x="9715500" y="3667125"/>
            <a:ext cx="742950" cy="323850"/>
          </a:xfrm>
          <a:prstGeom prst="roundRect">
            <a:avLst>
              <a:gd name="adj" fmla="val 5882"/>
            </a:avLst>
          </a:prstGeom>
          <a:solidFill>
            <a:srgbClr val="416757"/>
          </a:solidFill>
          <a:ln w="9525">
            <a:solidFill>
              <a:srgbClr val="416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D15BF02-8605-4D3D-97E5-FB53BD8CF203}"/>
              </a:ext>
            </a:extLst>
          </p:cNvPr>
          <p:cNvSpPr>
            <a:spLocks noGrp="1"/>
          </p:cNvSpPr>
          <p:nvPr/>
        </p:nvSpPr>
        <p:spPr>
          <a:xfrm>
            <a:off x="8705850" y="4162425"/>
            <a:ext cx="742950" cy="323850"/>
          </a:xfrm>
          <a:prstGeom prst="roundRect">
            <a:avLst>
              <a:gd name="adj" fmla="val 5882"/>
            </a:avLst>
          </a:prstGeom>
          <a:solidFill>
            <a:srgbClr val="416757"/>
          </a:solidFill>
          <a:ln w="9525">
            <a:solidFill>
              <a:srgbClr val="416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7C725B4-F9AE-4D50-8457-3A8CB90ED2C0}"/>
              </a:ext>
            </a:extLst>
          </p:cNvPr>
          <p:cNvSpPr>
            <a:spLocks noGrp="1"/>
          </p:cNvSpPr>
          <p:nvPr/>
        </p:nvSpPr>
        <p:spPr>
          <a:xfrm>
            <a:off x="9715500" y="4162425"/>
            <a:ext cx="742950" cy="323850"/>
          </a:xfrm>
          <a:prstGeom prst="roundRect">
            <a:avLst>
              <a:gd name="adj" fmla="val 5882"/>
            </a:avLst>
          </a:prstGeom>
          <a:solidFill>
            <a:srgbClr val="416757"/>
          </a:solidFill>
          <a:ln w="9525">
            <a:solidFill>
              <a:srgbClr val="416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F11804-23B5-4EA3-8E64-45F7B6C3F739}"/>
              </a:ext>
            </a:extLst>
          </p:cNvPr>
          <p:cNvSpPr>
            <a:spLocks noGrp="1"/>
          </p:cNvSpPr>
          <p:nvPr/>
        </p:nvSpPr>
        <p:spPr>
          <a:xfrm>
            <a:off x="8705850" y="44386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DF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FF3EA"/>
                </a:solidFill>
                <a:latin typeface="Helvetica Neue"/>
                <a:ea typeface="Helvetica Neue"/>
                <a:cs typeface="Helvetica Neue"/>
              </a:rPr>
              <a:t>Find • book • work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D63FE3-38F9-4299-B5B4-1912EC4DCABE}"/>
              </a:ext>
            </a:extLst>
          </p:cNvPr>
          <p:cNvSpPr>
            <a:spLocks noGrp="1"/>
          </p:cNvSpPr>
          <p:nvPr/>
        </p:nvSpPr>
        <p:spPr>
          <a:xfrm>
            <a:off x="514350" y="6467475"/>
            <a:ext cx="742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DeskFlow · Hot desk booking for the Helsinki office</a:t>
            </a:r>
          </a:p>
        </p:txBody>
      </p:sp>
    </p:spTree>
    <p:extLst>
      <p:ext uri="{BB962C8B-B14F-4D97-AF65-F5344CB8AC3E}">
        <p14:creationId xmlns:p14="http://schemas.microsoft.com/office/powerpoint/2010/main" val="102987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86DD397-D2ED-47FB-9D42-AF58D291B3B4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2A2D31-C51A-4777-AE74-0E91480CAA59}"/>
              </a:ext>
            </a:extLst>
          </p:cNvPr>
          <p:cNvSpPr>
            <a:spLocks noGrp="1"/>
          </p:cNvSpPr>
          <p:nvPr/>
        </p:nvSpPr>
        <p:spPr>
          <a:xfrm>
            <a:off x="11191875" y="333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A2C6D0-E9CC-453F-B34E-DF7950245BED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The team behind the vertical slice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A9C0C8-5FA3-4C4D-A687-F7F067CAD76B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Four roles working together to deliver DeskFlow.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8F625F-EE6D-429E-8617-8AD7D9BCBE55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63300" cy="9525"/>
          </a:xfrm>
          <a:prstGeom prst="rect">
            <a:avLst/>
          </a:prstGeom>
          <a:solidFill>
            <a:srgbClr val="D4DED5"/>
          </a:solidFill>
          <a:ln w="0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15D45C-FCE2-40E5-B37F-E385677A6CD7}"/>
              </a:ext>
            </a:extLst>
          </p:cNvPr>
          <p:cNvSpPr>
            <a:spLocks noGrp="1"/>
          </p:cNvSpPr>
          <p:nvPr/>
        </p:nvSpPr>
        <p:spPr>
          <a:xfrm>
            <a:off x="321276" y="2181225"/>
            <a:ext cx="2764824" cy="385762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A4216-CD7F-422F-A433-D0E34E8E4FF9}"/>
              </a:ext>
            </a:extLst>
          </p:cNvPr>
          <p:cNvSpPr>
            <a:spLocks noGrp="1"/>
          </p:cNvSpPr>
          <p:nvPr/>
        </p:nvSpPr>
        <p:spPr>
          <a:xfrm>
            <a:off x="845151" y="5722856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CA" sz="1200" b="1" dirty="0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Sr. Software Eng, API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5F1928E-2EB8-46CE-8FA4-33D9E0B4C7C6}"/>
              </a:ext>
            </a:extLst>
          </p:cNvPr>
          <p:cNvSpPr>
            <a:spLocks noGrp="1"/>
          </p:cNvSpPr>
          <p:nvPr/>
        </p:nvSpPr>
        <p:spPr>
          <a:xfrm>
            <a:off x="552707" y="2266951"/>
            <a:ext cx="2361943" cy="2957512"/>
          </a:xfrm>
          <a:prstGeom prst="roundRect">
            <a:avLst>
              <a:gd name="adj" fmla="val 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726AC9-8AE2-46FE-B90A-9873C565583A}"/>
              </a:ext>
            </a:extLst>
          </p:cNvPr>
          <p:cNvSpPr>
            <a:spLocks noGrp="1"/>
          </p:cNvSpPr>
          <p:nvPr/>
        </p:nvSpPr>
        <p:spPr>
          <a:xfrm>
            <a:off x="619253" y="5268868"/>
            <a:ext cx="2228850" cy="400050"/>
          </a:xfrm>
          <a:prstGeom prst="roundRect">
            <a:avLst>
              <a:gd name="adj" fmla="val 4762"/>
            </a:avLst>
          </a:prstGeom>
          <a:solidFill>
            <a:srgbClr val="274B3E"/>
          </a:solidFill>
          <a:ln w="9525">
            <a:solidFill>
              <a:srgbClr val="274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3E6B2-FE95-48A9-805D-F0B63C35C628}"/>
              </a:ext>
            </a:extLst>
          </p:cNvPr>
          <p:cNvSpPr>
            <a:spLocks noGrp="1"/>
          </p:cNvSpPr>
          <p:nvPr/>
        </p:nvSpPr>
        <p:spPr>
          <a:xfrm>
            <a:off x="589263" y="5363493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719"/>
          </a:bodyPr>
          <a:lstStyle/>
          <a:p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CA" sz="1425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Jasper</a:t>
            </a:r>
            <a:endParaRPr sz="1425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D5214B3-1AB9-4E52-B3BA-09DEE13655DD}"/>
              </a:ext>
            </a:extLst>
          </p:cNvPr>
          <p:cNvSpPr>
            <a:spLocks noGrp="1"/>
          </p:cNvSpPr>
          <p:nvPr/>
        </p:nvSpPr>
        <p:spPr>
          <a:xfrm>
            <a:off x="3178776" y="2181225"/>
            <a:ext cx="2764824" cy="385762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92EA21-D33E-4A07-A030-76D0DF92D8A1}"/>
              </a:ext>
            </a:extLst>
          </p:cNvPr>
          <p:cNvSpPr>
            <a:spLocks noGrp="1"/>
          </p:cNvSpPr>
          <p:nvPr/>
        </p:nvSpPr>
        <p:spPr>
          <a:xfrm>
            <a:off x="3702651" y="571307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CA" sz="1200" b="1" dirty="0"/>
              <a:t>Assoc. Director</a:t>
            </a:r>
            <a:r>
              <a:rPr lang="en-CA" sz="1200" b="1" dirty="0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, Data</a:t>
            </a:r>
            <a:endParaRPr sz="1200" b="1" dirty="0">
              <a:solidFill>
                <a:srgbClr val="0D7C59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382BBB7-BF6F-496D-A85D-9E1209A77B9F}"/>
              </a:ext>
            </a:extLst>
          </p:cNvPr>
          <p:cNvSpPr>
            <a:spLocks noGrp="1"/>
          </p:cNvSpPr>
          <p:nvPr/>
        </p:nvSpPr>
        <p:spPr>
          <a:xfrm>
            <a:off x="3467100" y="2267722"/>
            <a:ext cx="2190750" cy="2925334"/>
          </a:xfrm>
          <a:prstGeom prst="roundRect">
            <a:avLst>
              <a:gd name="adj" fmla="val 344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38D1031-AFB6-4917-8E9D-75DD93F8B22B}"/>
              </a:ext>
            </a:extLst>
          </p:cNvPr>
          <p:cNvSpPr>
            <a:spLocks noGrp="1"/>
          </p:cNvSpPr>
          <p:nvPr/>
        </p:nvSpPr>
        <p:spPr>
          <a:xfrm>
            <a:off x="3441871" y="5253038"/>
            <a:ext cx="2228850" cy="400050"/>
          </a:xfrm>
          <a:prstGeom prst="roundRect">
            <a:avLst>
              <a:gd name="adj" fmla="val 4762"/>
            </a:avLst>
          </a:prstGeom>
          <a:solidFill>
            <a:srgbClr val="274B3E"/>
          </a:solidFill>
          <a:ln w="9525">
            <a:solidFill>
              <a:srgbClr val="274B3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3E9D53-E149-4C5D-9CFB-1E0A513647BC}"/>
              </a:ext>
            </a:extLst>
          </p:cNvPr>
          <p:cNvSpPr>
            <a:spLocks noGrp="1"/>
          </p:cNvSpPr>
          <p:nvPr/>
        </p:nvSpPr>
        <p:spPr>
          <a:xfrm>
            <a:off x="3450624" y="5348288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719"/>
          </a:bodyPr>
          <a:lstStyle/>
          <a:p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CA" sz="1425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Ezio</a:t>
            </a:r>
            <a:endParaRPr sz="1425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1170190-C016-4D9D-A779-C1E15BD6C922}"/>
              </a:ext>
            </a:extLst>
          </p:cNvPr>
          <p:cNvSpPr>
            <a:spLocks noGrp="1"/>
          </p:cNvSpPr>
          <p:nvPr/>
        </p:nvSpPr>
        <p:spPr>
          <a:xfrm>
            <a:off x="6036276" y="2181225"/>
            <a:ext cx="2764824" cy="385762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779DD5-E7FD-48D6-8A26-0216CACDCA60}"/>
              </a:ext>
            </a:extLst>
          </p:cNvPr>
          <p:cNvSpPr>
            <a:spLocks noGrp="1"/>
          </p:cNvSpPr>
          <p:nvPr/>
        </p:nvSpPr>
        <p:spPr>
          <a:xfrm>
            <a:off x="6610350" y="5664341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CA" sz="1200" b="1" dirty="0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Sr. Software Eng, Feature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ADC8C14-0B00-434F-AC9B-D47A85E1B345}"/>
              </a:ext>
            </a:extLst>
          </p:cNvPr>
          <p:cNvSpPr>
            <a:spLocks noGrp="1"/>
          </p:cNvSpPr>
          <p:nvPr/>
        </p:nvSpPr>
        <p:spPr>
          <a:xfrm>
            <a:off x="6225232" y="2286000"/>
            <a:ext cx="2385368" cy="2897015"/>
          </a:xfrm>
          <a:prstGeom prst="roundRect">
            <a:avLst>
              <a:gd name="adj" fmla="val 3448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942516C-556C-4CA4-986A-F8327363648E}"/>
              </a:ext>
            </a:extLst>
          </p:cNvPr>
          <p:cNvSpPr>
            <a:spLocks noGrp="1"/>
          </p:cNvSpPr>
          <p:nvPr/>
        </p:nvSpPr>
        <p:spPr>
          <a:xfrm>
            <a:off x="6313145" y="5250035"/>
            <a:ext cx="2228850" cy="400050"/>
          </a:xfrm>
          <a:prstGeom prst="roundRect">
            <a:avLst>
              <a:gd name="adj" fmla="val 4762"/>
            </a:avLst>
          </a:prstGeom>
          <a:solidFill>
            <a:srgbClr val="274B3E"/>
          </a:solidFill>
          <a:ln w="9525">
            <a:solidFill>
              <a:srgbClr val="274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FFDCCB-05D0-4AAA-A643-66E8E0CAB286}"/>
              </a:ext>
            </a:extLst>
          </p:cNvPr>
          <p:cNvSpPr>
            <a:spLocks noGrp="1"/>
          </p:cNvSpPr>
          <p:nvPr/>
        </p:nvSpPr>
        <p:spPr>
          <a:xfrm>
            <a:off x="6303491" y="5363493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719"/>
          </a:bodyPr>
          <a:lstStyle/>
          <a:p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CA" sz="1425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Simon</a:t>
            </a:r>
            <a:endParaRPr sz="1425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0E5402A-CCFF-42D6-B68B-BBC2D5F22359}"/>
              </a:ext>
            </a:extLst>
          </p:cNvPr>
          <p:cNvSpPr>
            <a:spLocks noGrp="1"/>
          </p:cNvSpPr>
          <p:nvPr/>
        </p:nvSpPr>
        <p:spPr>
          <a:xfrm>
            <a:off x="8893776" y="2181225"/>
            <a:ext cx="2764824" cy="385762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4330B2-ECC6-491C-8AB0-1FBC4EB8C29E}"/>
              </a:ext>
            </a:extLst>
          </p:cNvPr>
          <p:cNvSpPr>
            <a:spLocks noGrp="1"/>
          </p:cNvSpPr>
          <p:nvPr/>
        </p:nvSpPr>
        <p:spPr>
          <a:xfrm>
            <a:off x="9324975" y="5650085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CA" sz="1200" b="1" dirty="0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Sr. Manager, Communication</a:t>
            </a:r>
            <a:endParaRPr sz="1200" b="1" dirty="0">
              <a:solidFill>
                <a:srgbClr val="0D7C59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F93DDA3-4A5C-4F1F-97DB-F4E0A11D14A4}"/>
              </a:ext>
            </a:extLst>
          </p:cNvPr>
          <p:cNvSpPr>
            <a:spLocks noGrp="1"/>
          </p:cNvSpPr>
          <p:nvPr/>
        </p:nvSpPr>
        <p:spPr>
          <a:xfrm>
            <a:off x="8893776" y="2520778"/>
            <a:ext cx="2745517" cy="2662237"/>
          </a:xfrm>
          <a:prstGeom prst="roundRect">
            <a:avLst>
              <a:gd name="adj" fmla="val 3448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151183B-A499-4A80-BA1F-6C863F9ECED9}"/>
              </a:ext>
            </a:extLst>
          </p:cNvPr>
          <p:cNvSpPr>
            <a:spLocks noGrp="1"/>
          </p:cNvSpPr>
          <p:nvPr/>
        </p:nvSpPr>
        <p:spPr>
          <a:xfrm>
            <a:off x="9161763" y="5268868"/>
            <a:ext cx="2228850" cy="400050"/>
          </a:xfrm>
          <a:prstGeom prst="roundRect">
            <a:avLst>
              <a:gd name="adj" fmla="val 4762"/>
            </a:avLst>
          </a:prstGeom>
          <a:solidFill>
            <a:srgbClr val="274B3E"/>
          </a:solidFill>
          <a:ln w="9525">
            <a:solidFill>
              <a:srgbClr val="274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BDE5CC-1CB7-4775-8C5C-CA795F795CB5}"/>
              </a:ext>
            </a:extLst>
          </p:cNvPr>
          <p:cNvSpPr>
            <a:spLocks noGrp="1"/>
          </p:cNvSpPr>
          <p:nvPr/>
        </p:nvSpPr>
        <p:spPr>
          <a:xfrm>
            <a:off x="9152109" y="5354810"/>
            <a:ext cx="2228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719"/>
          </a:bodyPr>
          <a:lstStyle/>
          <a:p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CA" sz="1425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Tony</a:t>
            </a:r>
            <a:endParaRPr sz="1425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E68AA5-83D1-4F98-9E29-27FD7C5F9442}"/>
              </a:ext>
            </a:extLst>
          </p:cNvPr>
          <p:cNvSpPr>
            <a:spLocks noGrp="1"/>
          </p:cNvSpPr>
          <p:nvPr/>
        </p:nvSpPr>
        <p:spPr>
          <a:xfrm>
            <a:off x="514350" y="6467475"/>
            <a:ext cx="742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DeskFlow · Hot desk booking for the Helsinki office</a:t>
            </a:r>
          </a:p>
        </p:txBody>
      </p:sp>
    </p:spTree>
    <p:extLst>
      <p:ext uri="{BB962C8B-B14F-4D97-AF65-F5344CB8AC3E}">
        <p14:creationId xmlns:p14="http://schemas.microsoft.com/office/powerpoint/2010/main" val="956089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19FDD52-FC37-46C6-B9CB-8DBC7D29F338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29E3F-6CC2-43E8-AFFA-DB1FC3BB2420}"/>
              </a:ext>
            </a:extLst>
          </p:cNvPr>
          <p:cNvSpPr>
            <a:spLocks noGrp="1"/>
          </p:cNvSpPr>
          <p:nvPr/>
        </p:nvSpPr>
        <p:spPr>
          <a:xfrm>
            <a:off x="11191875" y="333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FA9BF6-4735-4372-85F1-C9FEFDBBBABB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318"/>
          </a:bodyPr>
          <a:lstStyle/>
          <a:p>
            <a:pPr algn="l">
              <a:def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Our project makes hot-desk booking simple and safe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C60C90-49DE-4095-8805-16A9861E0667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63300" cy="9525"/>
          </a:xfrm>
          <a:prstGeom prst="rect">
            <a:avLst/>
          </a:prstGeom>
          <a:solidFill>
            <a:srgbClr val="D4DED5"/>
          </a:solidFill>
          <a:ln w="0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4EB82D-39BF-4C38-84B7-DF5B66DAD82A}"/>
              </a:ext>
            </a:extLst>
          </p:cNvPr>
          <p:cNvSpPr>
            <a:spLocks noGrp="1"/>
          </p:cNvSpPr>
          <p:nvPr/>
        </p:nvSpPr>
        <p:spPr>
          <a:xfrm>
            <a:off x="514350" y="23812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The need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4AD802-C2E9-47C4-AAB3-58E03854C4BC}"/>
              </a:ext>
            </a:extLst>
          </p:cNvPr>
          <p:cNvSpPr>
            <a:spLocks noGrp="1"/>
          </p:cNvSpPr>
          <p:nvPr/>
        </p:nvSpPr>
        <p:spPr>
          <a:xfrm>
            <a:off x="514350" y="2771775"/>
            <a:ext cx="30480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22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dirty="0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Employees need a quick way to find an available workspace for a specific day.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28B0FA-DAF8-44AB-87D3-0D6BC6B596F3}"/>
              </a:ext>
            </a:extLst>
          </p:cNvPr>
          <p:cNvSpPr>
            <a:spLocks noGrp="1"/>
          </p:cNvSpPr>
          <p:nvPr/>
        </p:nvSpPr>
        <p:spPr>
          <a:xfrm>
            <a:off x="4286250" y="2341518"/>
            <a:ext cx="6858000" cy="2571750"/>
          </a:xfrm>
          <a:prstGeom prst="roundRect">
            <a:avLst>
              <a:gd name="adj" fmla="val 4444"/>
            </a:avLst>
          </a:prstGeom>
          <a:solidFill>
            <a:srgbClr val="274B3E"/>
          </a:solidFill>
          <a:ln w="9525">
            <a:solidFill>
              <a:srgbClr val="274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7EB803-67C4-4292-B7B7-24D2B61B88F0}"/>
              </a:ext>
            </a:extLst>
          </p:cNvPr>
          <p:cNvSpPr>
            <a:spLocks noGrp="1"/>
          </p:cNvSpPr>
          <p:nvPr/>
        </p:nvSpPr>
        <p:spPr>
          <a:xfrm>
            <a:off x="4667250" y="26574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DF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FF3EA"/>
                </a:solidFill>
                <a:latin typeface="Helvetica Neue"/>
                <a:ea typeface="Helvetica Neue"/>
                <a:cs typeface="Helvetica Neue"/>
              </a:rPr>
              <a:t>One clear journey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D18198-3E70-433F-97B4-58AB08E4962D}"/>
              </a:ext>
            </a:extLst>
          </p:cNvPr>
          <p:cNvSpPr>
            <a:spLocks noGrp="1"/>
          </p:cNvSpPr>
          <p:nvPr/>
        </p:nvSpPr>
        <p:spPr>
          <a:xfrm>
            <a:off x="4667250" y="334327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9FCF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FCFB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64BD5-332A-441B-9635-9DEE8DDC6642}"/>
              </a:ext>
            </a:extLst>
          </p:cNvPr>
          <p:cNvSpPr>
            <a:spLocks noGrp="1"/>
          </p:cNvSpPr>
          <p:nvPr/>
        </p:nvSpPr>
        <p:spPr>
          <a:xfrm>
            <a:off x="4667250" y="3648075"/>
            <a:ext cx="1381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date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DD0612-4560-4788-AC7D-AB197EF003BC}"/>
              </a:ext>
            </a:extLst>
          </p:cNvPr>
          <p:cNvSpPr>
            <a:spLocks noGrp="1"/>
          </p:cNvSpPr>
          <p:nvPr/>
        </p:nvSpPr>
        <p:spPr>
          <a:xfrm>
            <a:off x="6191250" y="334327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9FCF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FCFB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E7DCE-2212-4E55-ABFD-9DF8F6749178}"/>
              </a:ext>
            </a:extLst>
          </p:cNvPr>
          <p:cNvSpPr>
            <a:spLocks noGrp="1"/>
          </p:cNvSpPr>
          <p:nvPr/>
        </p:nvSpPr>
        <p:spPr>
          <a:xfrm>
            <a:off x="6191250" y="3648075"/>
            <a:ext cx="1381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See free desks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8167E7-513B-4CCF-9618-B87838FE6F2A}"/>
              </a:ext>
            </a:extLst>
          </p:cNvPr>
          <p:cNvSpPr>
            <a:spLocks noGrp="1"/>
          </p:cNvSpPr>
          <p:nvPr/>
        </p:nvSpPr>
        <p:spPr>
          <a:xfrm>
            <a:off x="7715250" y="334327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9FCF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FCFB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2D50A6-2866-465D-9B5B-DD9FCD4A7A3A}"/>
              </a:ext>
            </a:extLst>
          </p:cNvPr>
          <p:cNvSpPr>
            <a:spLocks noGrp="1"/>
          </p:cNvSpPr>
          <p:nvPr/>
        </p:nvSpPr>
        <p:spPr>
          <a:xfrm>
            <a:off x="7953375" y="3634468"/>
            <a:ext cx="1381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Book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268C26-FF13-46D6-A658-E60FF6570B62}"/>
              </a:ext>
            </a:extLst>
          </p:cNvPr>
          <p:cNvSpPr>
            <a:spLocks noGrp="1"/>
          </p:cNvSpPr>
          <p:nvPr/>
        </p:nvSpPr>
        <p:spPr>
          <a:xfrm>
            <a:off x="9239250" y="334327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9FCF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FCFB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C75363-35A0-4E34-B908-F8A07B5A58B2}"/>
              </a:ext>
            </a:extLst>
          </p:cNvPr>
          <p:cNvSpPr>
            <a:spLocks noGrp="1"/>
          </p:cNvSpPr>
          <p:nvPr/>
        </p:nvSpPr>
        <p:spPr>
          <a:xfrm>
            <a:off x="9204688" y="3615418"/>
            <a:ext cx="1707424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 lnSpcReduction="10000"/>
          </a:bodyPr>
          <a:lstStyle/>
          <a:p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Cancel if plans change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3F8A65-3ED6-4E11-A4C7-1091ABC4488F}"/>
              </a:ext>
            </a:extLst>
          </p:cNvPr>
          <p:cNvSpPr>
            <a:spLocks noGrp="1"/>
          </p:cNvSpPr>
          <p:nvPr/>
        </p:nvSpPr>
        <p:spPr>
          <a:xfrm>
            <a:off x="514350" y="53054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The result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C82252-F6A4-4B7E-8C9B-2247F6483B3C}"/>
              </a:ext>
            </a:extLst>
          </p:cNvPr>
          <p:cNvSpPr>
            <a:spLocks noGrp="1"/>
          </p:cNvSpPr>
          <p:nvPr/>
        </p:nvSpPr>
        <p:spPr>
          <a:xfrm>
            <a:off x="514350" y="5667375"/>
            <a:ext cx="904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A thin, working vertical slice—from availability to booking and cancellation.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76EF38-5F01-461D-9DCF-31FC760DF803}"/>
              </a:ext>
            </a:extLst>
          </p:cNvPr>
          <p:cNvSpPr>
            <a:spLocks noGrp="1"/>
          </p:cNvSpPr>
          <p:nvPr/>
        </p:nvSpPr>
        <p:spPr>
          <a:xfrm>
            <a:off x="514350" y="6467475"/>
            <a:ext cx="742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DeskFlow · Hot desk booking for the Helsinki office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EE64EC2B-7BD0-825D-3C32-1DA6B43AC226}"/>
              </a:ext>
            </a:extLst>
          </p:cNvPr>
          <p:cNvSpPr/>
          <p:nvPr/>
        </p:nvSpPr>
        <p:spPr>
          <a:xfrm>
            <a:off x="5850254" y="3669166"/>
            <a:ext cx="286839" cy="183696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9E194DDD-6A51-A121-113A-9148894A341A}"/>
              </a:ext>
            </a:extLst>
          </p:cNvPr>
          <p:cNvSpPr/>
          <p:nvPr/>
        </p:nvSpPr>
        <p:spPr>
          <a:xfrm>
            <a:off x="7571830" y="3663043"/>
            <a:ext cx="286839" cy="183696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39CD6E08-98C5-2B9B-8FAA-E357C2D6CA4F}"/>
              </a:ext>
            </a:extLst>
          </p:cNvPr>
          <p:cNvSpPr/>
          <p:nvPr/>
        </p:nvSpPr>
        <p:spPr>
          <a:xfrm>
            <a:off x="8521336" y="3663043"/>
            <a:ext cx="286839" cy="183696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C8575DD-5C80-4670-89CD-A5CEBE469AB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0B93C6-3146-4215-9D3C-D2005391BAB8}"/>
              </a:ext>
            </a:extLst>
          </p:cNvPr>
          <p:cNvSpPr>
            <a:spLocks noGrp="1"/>
          </p:cNvSpPr>
          <p:nvPr/>
        </p:nvSpPr>
        <p:spPr>
          <a:xfrm>
            <a:off x="11191875" y="333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302D7E-6E9C-4252-A9A4-1B7FF561266E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System flow protects every booking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1E93A-68DE-4A5E-B8A7-7F37342CD69B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A single request travels through validation, business rules, and the database constraint.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D811-CE4C-4047-8E06-6EB600F41F03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63300" cy="9525"/>
          </a:xfrm>
          <a:prstGeom prst="rect">
            <a:avLst/>
          </a:prstGeom>
          <a:solidFill>
            <a:srgbClr val="D4DED5"/>
          </a:solidFill>
          <a:ln w="0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E88993-AD51-4E04-80C8-F5C0C31C9B64}"/>
              </a:ext>
            </a:extLst>
          </p:cNvPr>
          <p:cNvSpPr>
            <a:spLocks noGrp="1"/>
          </p:cNvSpPr>
          <p:nvPr/>
        </p:nvSpPr>
        <p:spPr>
          <a:xfrm>
            <a:off x="514350" y="2952750"/>
            <a:ext cx="22860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24F90D-6DBE-4EDD-BB38-FD36016AC4C9}"/>
              </a:ext>
            </a:extLst>
          </p:cNvPr>
          <p:cNvSpPr>
            <a:spLocks noGrp="1"/>
          </p:cNvSpPr>
          <p:nvPr/>
        </p:nvSpPr>
        <p:spPr>
          <a:xfrm>
            <a:off x="704850" y="316230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0A4E58-14E6-4ED7-9700-5F1AEC9A00ED}"/>
              </a:ext>
            </a:extLst>
          </p:cNvPr>
          <p:cNvSpPr>
            <a:spLocks noGrp="1"/>
          </p:cNvSpPr>
          <p:nvPr/>
        </p:nvSpPr>
        <p:spPr>
          <a:xfrm>
            <a:off x="704850" y="3543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Browser UI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25FF4D-CC36-43F0-831A-0808BE544DB6}"/>
              </a:ext>
            </a:extLst>
          </p:cNvPr>
          <p:cNvSpPr>
            <a:spLocks noGrp="1"/>
          </p:cNvSpPr>
          <p:nvPr/>
        </p:nvSpPr>
        <p:spPr>
          <a:xfrm>
            <a:off x="704850" y="3962400"/>
            <a:ext cx="1857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Choose a desk and submit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3A581C-D621-46C6-9E05-1E40429D47BD}"/>
              </a:ext>
            </a:extLst>
          </p:cNvPr>
          <p:cNvSpPr>
            <a:spLocks noGrp="1"/>
          </p:cNvSpPr>
          <p:nvPr/>
        </p:nvSpPr>
        <p:spPr>
          <a:xfrm>
            <a:off x="2809875" y="3762375"/>
            <a:ext cx="295275" cy="28575"/>
          </a:xfrm>
          <a:prstGeom prst="rect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893B6DBC-AD0C-48B8-B50B-610A28C5D977}"/>
              </a:ext>
            </a:extLst>
          </p:cNvPr>
          <p:cNvSpPr>
            <a:spLocks noGrp="1"/>
          </p:cNvSpPr>
          <p:nvPr/>
        </p:nvSpPr>
        <p:spPr>
          <a:xfrm>
            <a:off x="3067050" y="3686175"/>
            <a:ext cx="171450" cy="171450"/>
          </a:xfrm>
          <a:prstGeom prst="triangle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4516B08-EFF3-4B80-BDAA-23AABEDB9CB4}"/>
              </a:ext>
            </a:extLst>
          </p:cNvPr>
          <p:cNvSpPr>
            <a:spLocks noGrp="1"/>
          </p:cNvSpPr>
          <p:nvPr/>
        </p:nvSpPr>
        <p:spPr>
          <a:xfrm>
            <a:off x="3333750" y="2952750"/>
            <a:ext cx="22860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720B49-8CBA-4CAD-AC22-AA4F8FB22138}"/>
              </a:ext>
            </a:extLst>
          </p:cNvPr>
          <p:cNvSpPr>
            <a:spLocks noGrp="1"/>
          </p:cNvSpPr>
          <p:nvPr/>
        </p:nvSpPr>
        <p:spPr>
          <a:xfrm>
            <a:off x="3524250" y="316230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B57EB4-42BB-4501-AAA4-758E7FB89E7E}"/>
              </a:ext>
            </a:extLst>
          </p:cNvPr>
          <p:cNvSpPr>
            <a:spLocks noGrp="1"/>
          </p:cNvSpPr>
          <p:nvPr/>
        </p:nvSpPr>
        <p:spPr>
          <a:xfrm>
            <a:off x="3524250" y="3543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REST 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97DEBD-DEF0-4C40-A290-2AACDB747D28}"/>
              </a:ext>
            </a:extLst>
          </p:cNvPr>
          <p:cNvSpPr>
            <a:spLocks noGrp="1"/>
          </p:cNvSpPr>
          <p:nvPr/>
        </p:nvSpPr>
        <p:spPr>
          <a:xfrm>
            <a:off x="3524250" y="3962400"/>
            <a:ext cx="1857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Controller validates JSON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2DF396-CE28-49A8-9DCA-C162A38F8210}"/>
              </a:ext>
            </a:extLst>
          </p:cNvPr>
          <p:cNvSpPr>
            <a:spLocks noGrp="1"/>
          </p:cNvSpPr>
          <p:nvPr/>
        </p:nvSpPr>
        <p:spPr>
          <a:xfrm>
            <a:off x="5629275" y="3762375"/>
            <a:ext cx="295275" cy="28575"/>
          </a:xfrm>
          <a:prstGeom prst="rect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BEC0833F-FD67-4DA9-B0CC-D6459E017675}"/>
              </a:ext>
            </a:extLst>
          </p:cNvPr>
          <p:cNvSpPr>
            <a:spLocks noGrp="1"/>
          </p:cNvSpPr>
          <p:nvPr/>
        </p:nvSpPr>
        <p:spPr>
          <a:xfrm>
            <a:off x="5886450" y="3686175"/>
            <a:ext cx="171450" cy="171450"/>
          </a:xfrm>
          <a:prstGeom prst="triangle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8655B21-AD45-40F5-B155-DDA1B1C322F0}"/>
              </a:ext>
            </a:extLst>
          </p:cNvPr>
          <p:cNvSpPr>
            <a:spLocks noGrp="1"/>
          </p:cNvSpPr>
          <p:nvPr/>
        </p:nvSpPr>
        <p:spPr>
          <a:xfrm>
            <a:off x="6153150" y="2952750"/>
            <a:ext cx="2286000" cy="1619250"/>
          </a:xfrm>
          <a:prstGeom prst="roundRect">
            <a:avLst>
              <a:gd name="adj" fmla="val 7059"/>
            </a:avLst>
          </a:prstGeom>
          <a:solidFill>
            <a:srgbClr val="DFF3EA"/>
          </a:solidFill>
          <a:ln w="9525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A1ACC1-DFCD-4B3C-A217-EA299AFD7334}"/>
              </a:ext>
            </a:extLst>
          </p:cNvPr>
          <p:cNvSpPr>
            <a:spLocks noGrp="1"/>
          </p:cNvSpPr>
          <p:nvPr/>
        </p:nvSpPr>
        <p:spPr>
          <a:xfrm>
            <a:off x="6343650" y="316230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1A7A24-55DF-461E-9FA3-C3EE059C9487}"/>
              </a:ext>
            </a:extLst>
          </p:cNvPr>
          <p:cNvSpPr>
            <a:spLocks noGrp="1"/>
          </p:cNvSpPr>
          <p:nvPr/>
        </p:nvSpPr>
        <p:spPr>
          <a:xfrm>
            <a:off x="6343650" y="3543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Booking service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9FBFD1-F365-43A5-8A76-926D83C32E48}"/>
              </a:ext>
            </a:extLst>
          </p:cNvPr>
          <p:cNvSpPr>
            <a:spLocks noGrp="1"/>
          </p:cNvSpPr>
          <p:nvPr/>
        </p:nvSpPr>
        <p:spPr>
          <a:xfrm>
            <a:off x="6343650" y="3962400"/>
            <a:ext cx="1857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Checks desk status and conflict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9B72D9-5E12-4F89-AB3E-0A586CC60D79}"/>
              </a:ext>
            </a:extLst>
          </p:cNvPr>
          <p:cNvSpPr>
            <a:spLocks noGrp="1"/>
          </p:cNvSpPr>
          <p:nvPr/>
        </p:nvSpPr>
        <p:spPr>
          <a:xfrm>
            <a:off x="8448675" y="3762375"/>
            <a:ext cx="295275" cy="28575"/>
          </a:xfrm>
          <a:prstGeom prst="rect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70BA456A-7AE6-4066-A9BC-889F4866CB77}"/>
              </a:ext>
            </a:extLst>
          </p:cNvPr>
          <p:cNvSpPr>
            <a:spLocks noGrp="1"/>
          </p:cNvSpPr>
          <p:nvPr/>
        </p:nvSpPr>
        <p:spPr>
          <a:xfrm>
            <a:off x="8705850" y="3686175"/>
            <a:ext cx="171450" cy="171450"/>
          </a:xfrm>
          <a:prstGeom prst="triangle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DA06A06-5B0E-40C8-ACDA-B35B510ED0D6}"/>
              </a:ext>
            </a:extLst>
          </p:cNvPr>
          <p:cNvSpPr>
            <a:spLocks noGrp="1"/>
          </p:cNvSpPr>
          <p:nvPr/>
        </p:nvSpPr>
        <p:spPr>
          <a:xfrm>
            <a:off x="8972550" y="2952750"/>
            <a:ext cx="22860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1F2197-8A73-418A-BF58-F0949945F14C}"/>
              </a:ext>
            </a:extLst>
          </p:cNvPr>
          <p:cNvSpPr>
            <a:spLocks noGrp="1"/>
          </p:cNvSpPr>
          <p:nvPr/>
        </p:nvSpPr>
        <p:spPr>
          <a:xfrm>
            <a:off x="9163050" y="316230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28CC02-C59F-4F09-BD0D-0B5177FDA7D4}"/>
              </a:ext>
            </a:extLst>
          </p:cNvPr>
          <p:cNvSpPr>
            <a:spLocks noGrp="1"/>
          </p:cNvSpPr>
          <p:nvPr/>
        </p:nvSpPr>
        <p:spPr>
          <a:xfrm>
            <a:off x="9163050" y="3543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MySQL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C88E71-33B2-4E9F-B5C2-9C47A4487E32}"/>
              </a:ext>
            </a:extLst>
          </p:cNvPr>
          <p:cNvSpPr>
            <a:spLocks noGrp="1"/>
          </p:cNvSpPr>
          <p:nvPr/>
        </p:nvSpPr>
        <p:spPr>
          <a:xfrm>
            <a:off x="9163050" y="3962400"/>
            <a:ext cx="1857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Persists booking atomically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11830DD-1666-4957-8966-C37CA7F2F878}"/>
              </a:ext>
            </a:extLst>
          </p:cNvPr>
          <p:cNvSpPr>
            <a:spLocks noGrp="1"/>
          </p:cNvSpPr>
          <p:nvPr/>
        </p:nvSpPr>
        <p:spPr>
          <a:xfrm>
            <a:off x="2476500" y="5191125"/>
            <a:ext cx="7239000" cy="704850"/>
          </a:xfrm>
          <a:prstGeom prst="roundRect">
            <a:avLst>
              <a:gd name="adj" fmla="val 16216"/>
            </a:avLst>
          </a:prstGeom>
          <a:solidFill>
            <a:srgbClr val="FFF4E5"/>
          </a:solidFill>
          <a:ln w="9525">
            <a:solidFill>
              <a:srgbClr val="E7C5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13F483-4CBE-4E61-AF33-0C7A82F58F18}"/>
              </a:ext>
            </a:extLst>
          </p:cNvPr>
          <p:cNvSpPr>
            <a:spLocks noGrp="1"/>
          </p:cNvSpPr>
          <p:nvPr/>
        </p:nvSpPr>
        <p:spPr>
          <a:xfrm>
            <a:off x="2724150" y="541020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2555" lnSpcReduction="20000"/>
          </a:bodyPr>
          <a:lstStyle/>
          <a:p>
            <a:pPr algn="ctr">
              <a:defRPr sz="1575" b="1">
                <a:solidFill>
                  <a:srgbClr val="274B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74B3E"/>
                </a:solidFill>
                <a:latin typeface="Helvetica Neue"/>
                <a:ea typeface="Helvetica Neue"/>
                <a:cs typeface="Helvetica Neue"/>
              </a:rPr>
              <a:t>Result: success returns 201; duplicate desk/date returns 409; inactive desks return 400.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3E6B00-1697-40BA-ADD7-B9884D71160F}"/>
              </a:ext>
            </a:extLst>
          </p:cNvPr>
          <p:cNvSpPr>
            <a:spLocks noGrp="1"/>
          </p:cNvSpPr>
          <p:nvPr/>
        </p:nvSpPr>
        <p:spPr>
          <a:xfrm>
            <a:off x="514350" y="6467475"/>
            <a:ext cx="742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DeskFlow · Hot desk booking for the Helsinki office</a:t>
            </a:r>
          </a:p>
        </p:txBody>
      </p:sp>
    </p:spTree>
    <p:extLst>
      <p:ext uri="{BB962C8B-B14F-4D97-AF65-F5344CB8AC3E}">
        <p14:creationId xmlns:p14="http://schemas.microsoft.com/office/powerpoint/2010/main" val="18384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9DC7EFCF-412D-4368-B3F7-035A1A50F479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CC2101-868F-4815-8AC0-40C3F8F3EDBF}"/>
              </a:ext>
            </a:extLst>
          </p:cNvPr>
          <p:cNvSpPr>
            <a:spLocks noGrp="1"/>
          </p:cNvSpPr>
          <p:nvPr/>
        </p:nvSpPr>
        <p:spPr>
          <a:xfrm>
            <a:off x="11191875" y="333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262F42-8A2C-4A72-90EB-677BB5F563BB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The browser interface keeps the journey visible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365958-AD54-4167-8532-55B56367BD5B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The single-page UI calls the same-origin REST API and refreshes availability after each action.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003AD4-CC43-4D33-9FC0-FC7B5086B31E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63300" cy="9525"/>
          </a:xfrm>
          <a:prstGeom prst="rect">
            <a:avLst/>
          </a:prstGeom>
          <a:solidFill>
            <a:srgbClr val="D4DED5"/>
          </a:solidFill>
          <a:ln w="0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8D8789-73E2-4A17-A2BA-4FA198D7B754}"/>
              </a:ext>
            </a:extLst>
          </p:cNvPr>
          <p:cNvSpPr>
            <a:spLocks noGrp="1"/>
          </p:cNvSpPr>
          <p:nvPr/>
        </p:nvSpPr>
        <p:spPr>
          <a:xfrm>
            <a:off x="514350" y="2238375"/>
            <a:ext cx="7391400" cy="352425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16F541-D690-4E00-B2F8-E50FE2B9AE63}"/>
              </a:ext>
            </a:extLst>
          </p:cNvPr>
          <p:cNvSpPr>
            <a:spLocks noGrp="1"/>
          </p:cNvSpPr>
          <p:nvPr/>
        </p:nvSpPr>
        <p:spPr>
          <a:xfrm>
            <a:off x="762000" y="2447925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Helsinki office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173472-F083-4647-9135-41FE80D1AB1F}"/>
              </a:ext>
            </a:extLst>
          </p:cNvPr>
          <p:cNvSpPr>
            <a:spLocks noGrp="1"/>
          </p:cNvSpPr>
          <p:nvPr/>
        </p:nvSpPr>
        <p:spPr>
          <a:xfrm>
            <a:off x="762000" y="2724150"/>
            <a:ext cx="3238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588"/>
          </a:bodyPr>
          <a:lstStyle/>
          <a:p>
            <a:pPr algn="l">
              <a:defRPr sz="25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Find your desk.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869874D-42A6-4A4E-B371-ED97575B2911}"/>
              </a:ext>
            </a:extLst>
          </p:cNvPr>
          <p:cNvSpPr>
            <a:spLocks noGrp="1"/>
          </p:cNvSpPr>
          <p:nvPr/>
        </p:nvSpPr>
        <p:spPr>
          <a:xfrm>
            <a:off x="762000" y="3295650"/>
            <a:ext cx="6610350" cy="504825"/>
          </a:xfrm>
          <a:prstGeom prst="roundRect">
            <a:avLst>
              <a:gd name="adj" fmla="val 22642"/>
            </a:avLst>
          </a:prstGeom>
          <a:solidFill>
            <a:srgbClr val="F6F7F2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3B725B-0163-4260-B5C2-1EF9F0449659}"/>
              </a:ext>
            </a:extLst>
          </p:cNvPr>
          <p:cNvSpPr>
            <a:spLocks noGrp="1"/>
          </p:cNvSpPr>
          <p:nvPr/>
        </p:nvSpPr>
        <p:spPr>
          <a:xfrm>
            <a:off x="914400" y="3457575"/>
            <a:ext cx="419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39"/>
          </a:bodyPr>
          <a:lstStyle/>
          <a:p>
            <a:pPr algn="l">
              <a:def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2026-07-24     All floors     Any setup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AB3C189-427A-4BDD-91AC-3B6421D0CCA7}"/>
              </a:ext>
            </a:extLst>
          </p:cNvPr>
          <p:cNvSpPr>
            <a:spLocks noGrp="1"/>
          </p:cNvSpPr>
          <p:nvPr/>
        </p:nvSpPr>
        <p:spPr>
          <a:xfrm>
            <a:off x="5905500" y="3390900"/>
            <a:ext cx="1238250" cy="304800"/>
          </a:xfrm>
          <a:prstGeom prst="roundRect">
            <a:avLst>
              <a:gd name="adj" fmla="val 50000"/>
            </a:avLst>
          </a:prstGeom>
          <a:solidFill>
            <a:srgbClr val="0D7C59"/>
          </a:solidFill>
          <a:ln w="9525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4AC7FF-F70B-4E03-AD9C-A15FF9D01790}"/>
              </a:ext>
            </a:extLst>
          </p:cNvPr>
          <p:cNvSpPr>
            <a:spLocks noGrp="1"/>
          </p:cNvSpPr>
          <p:nvPr/>
        </p:nvSpPr>
        <p:spPr>
          <a:xfrm>
            <a:off x="5905500" y="3467100"/>
            <a:ext cx="123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Find desks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C81043-FA02-46B8-B742-5EF8333D6CEF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Available desks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3931BE-1A4F-43AB-B519-2FAC37631EF7}"/>
              </a:ext>
            </a:extLst>
          </p:cNvPr>
          <p:cNvSpPr>
            <a:spLocks noGrp="1"/>
          </p:cNvSpPr>
          <p:nvPr/>
        </p:nvSpPr>
        <p:spPr>
          <a:xfrm>
            <a:off x="6667500" y="404812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6 free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A3EAA1F-E754-49D2-8F10-ADFAA86732A9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1924050" cy="952500"/>
          </a:xfrm>
          <a:prstGeom prst="roundRect">
            <a:avLst>
              <a:gd name="adj" fmla="val 12000"/>
            </a:avLst>
          </a:prstGeom>
          <a:solidFill>
            <a:srgbClr val="F6F7F2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530A39-2834-4F93-95FC-B6F370BC3037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1666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39"/>
          </a:bodyPr>
          <a:lstStyle/>
          <a:p>
            <a:pPr algn="l">
              <a:defRPr sz="127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HEL-2F-02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403ABD-03D5-4F9E-89B1-156C6CA86BD4}"/>
              </a:ext>
            </a:extLst>
          </p:cNvPr>
          <p:cNvSpPr>
            <a:spLocks noGrp="1"/>
          </p:cNvSpPr>
          <p:nvPr/>
        </p:nvSpPr>
        <p:spPr>
          <a:xfrm>
            <a:off x="895350" y="4857750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Floor 2 · No monitor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E7525DF-5383-4062-ABE8-CB8CEBFCFC99}"/>
              </a:ext>
            </a:extLst>
          </p:cNvPr>
          <p:cNvSpPr>
            <a:spLocks noGrp="1"/>
          </p:cNvSpPr>
          <p:nvPr/>
        </p:nvSpPr>
        <p:spPr>
          <a:xfrm>
            <a:off x="895350" y="5086350"/>
            <a:ext cx="1257300" cy="304800"/>
          </a:xfrm>
          <a:prstGeom prst="roundRect">
            <a:avLst>
              <a:gd name="adj" fmla="val 50000"/>
            </a:avLst>
          </a:prstGeom>
          <a:solidFill>
            <a:srgbClr val="0D7C59"/>
          </a:solidFill>
          <a:ln w="9525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8CE2D4-E419-4641-A5BE-F7128E7CE1A0}"/>
              </a:ext>
            </a:extLst>
          </p:cNvPr>
          <p:cNvSpPr>
            <a:spLocks noGrp="1"/>
          </p:cNvSpPr>
          <p:nvPr/>
        </p:nvSpPr>
        <p:spPr>
          <a:xfrm>
            <a:off x="895350" y="5162550"/>
            <a:ext cx="1257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desk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068DEB6-5547-4D9C-818D-728939A1DC40}"/>
              </a:ext>
            </a:extLst>
          </p:cNvPr>
          <p:cNvSpPr>
            <a:spLocks noGrp="1"/>
          </p:cNvSpPr>
          <p:nvPr/>
        </p:nvSpPr>
        <p:spPr>
          <a:xfrm>
            <a:off x="2895600" y="4429125"/>
            <a:ext cx="1924050" cy="952500"/>
          </a:xfrm>
          <a:prstGeom prst="roundRect">
            <a:avLst>
              <a:gd name="adj" fmla="val 12000"/>
            </a:avLst>
          </a:prstGeom>
          <a:solidFill>
            <a:srgbClr val="F6F7F2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E02D9E-D79F-4DDA-90AD-F050895E8EA3}"/>
              </a:ext>
            </a:extLst>
          </p:cNvPr>
          <p:cNvSpPr>
            <a:spLocks noGrp="1"/>
          </p:cNvSpPr>
          <p:nvPr/>
        </p:nvSpPr>
        <p:spPr>
          <a:xfrm>
            <a:off x="3028950" y="4572000"/>
            <a:ext cx="1666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39"/>
          </a:bodyPr>
          <a:lstStyle/>
          <a:p>
            <a:pPr algn="l">
              <a:defRPr sz="127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HEL-2F-03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FB8FC0-00EA-4EDF-91A2-A102A825C372}"/>
              </a:ext>
            </a:extLst>
          </p:cNvPr>
          <p:cNvSpPr>
            <a:spLocks noGrp="1"/>
          </p:cNvSpPr>
          <p:nvPr/>
        </p:nvSpPr>
        <p:spPr>
          <a:xfrm>
            <a:off x="3028950" y="4857750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Floor 2 · Monitor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FB72DBB-B605-4557-B77F-00D9D15A8E9C}"/>
              </a:ext>
            </a:extLst>
          </p:cNvPr>
          <p:cNvSpPr>
            <a:spLocks noGrp="1"/>
          </p:cNvSpPr>
          <p:nvPr/>
        </p:nvSpPr>
        <p:spPr>
          <a:xfrm>
            <a:off x="3028950" y="5086350"/>
            <a:ext cx="1257300" cy="304800"/>
          </a:xfrm>
          <a:prstGeom prst="roundRect">
            <a:avLst>
              <a:gd name="adj" fmla="val 50000"/>
            </a:avLst>
          </a:prstGeom>
          <a:solidFill>
            <a:srgbClr val="0D7C59"/>
          </a:solidFill>
          <a:ln w="9525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DE9BAB-C2A6-439A-85E7-E13BA4D024AC}"/>
              </a:ext>
            </a:extLst>
          </p:cNvPr>
          <p:cNvSpPr>
            <a:spLocks noGrp="1"/>
          </p:cNvSpPr>
          <p:nvPr/>
        </p:nvSpPr>
        <p:spPr>
          <a:xfrm>
            <a:off x="3028950" y="5162550"/>
            <a:ext cx="1257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desk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CCAE6F9-B8CD-41F9-8AB6-2FE363E8386E}"/>
              </a:ext>
            </a:extLst>
          </p:cNvPr>
          <p:cNvSpPr>
            <a:spLocks noGrp="1"/>
          </p:cNvSpPr>
          <p:nvPr/>
        </p:nvSpPr>
        <p:spPr>
          <a:xfrm>
            <a:off x="5029200" y="4429125"/>
            <a:ext cx="1924050" cy="952500"/>
          </a:xfrm>
          <a:prstGeom prst="roundRect">
            <a:avLst>
              <a:gd name="adj" fmla="val 12000"/>
            </a:avLst>
          </a:prstGeom>
          <a:solidFill>
            <a:srgbClr val="F6F7F2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A5C224-4BCC-4C68-A40B-5087F47FE2F1}"/>
              </a:ext>
            </a:extLst>
          </p:cNvPr>
          <p:cNvSpPr>
            <a:spLocks noGrp="1"/>
          </p:cNvSpPr>
          <p:nvPr/>
        </p:nvSpPr>
        <p:spPr>
          <a:xfrm>
            <a:off x="5162550" y="4572000"/>
            <a:ext cx="1666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39"/>
          </a:bodyPr>
          <a:lstStyle/>
          <a:p>
            <a:pPr algn="l">
              <a:defRPr sz="127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HEL-3F-02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67F1B0-480A-4A5B-98ED-8B63F2D8783D}"/>
              </a:ext>
            </a:extLst>
          </p:cNvPr>
          <p:cNvSpPr>
            <a:spLocks noGrp="1"/>
          </p:cNvSpPr>
          <p:nvPr/>
        </p:nvSpPr>
        <p:spPr>
          <a:xfrm>
            <a:off x="5162550" y="4857750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Floor 3 · No monitor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E709FC7-C2FB-47D3-B0E0-BF3C58DABCD4}"/>
              </a:ext>
            </a:extLst>
          </p:cNvPr>
          <p:cNvSpPr>
            <a:spLocks noGrp="1"/>
          </p:cNvSpPr>
          <p:nvPr/>
        </p:nvSpPr>
        <p:spPr>
          <a:xfrm>
            <a:off x="5162550" y="5086350"/>
            <a:ext cx="1257300" cy="304800"/>
          </a:xfrm>
          <a:prstGeom prst="roundRect">
            <a:avLst>
              <a:gd name="adj" fmla="val 50000"/>
            </a:avLst>
          </a:prstGeom>
          <a:solidFill>
            <a:srgbClr val="0D7C59"/>
          </a:solidFill>
          <a:ln w="9525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B63731-5860-46DB-961A-512F3038A620}"/>
              </a:ext>
            </a:extLst>
          </p:cNvPr>
          <p:cNvSpPr>
            <a:spLocks noGrp="1"/>
          </p:cNvSpPr>
          <p:nvPr/>
        </p:nvSpPr>
        <p:spPr>
          <a:xfrm>
            <a:off x="5162550" y="5162550"/>
            <a:ext cx="1257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desk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0089E99-1245-45E1-96DB-F788BBDD568B}"/>
              </a:ext>
            </a:extLst>
          </p:cNvPr>
          <p:cNvSpPr>
            <a:spLocks noGrp="1"/>
          </p:cNvSpPr>
          <p:nvPr/>
        </p:nvSpPr>
        <p:spPr>
          <a:xfrm>
            <a:off x="8305800" y="2238375"/>
            <a:ext cx="2838450" cy="3524250"/>
          </a:xfrm>
          <a:prstGeom prst="roundRect">
            <a:avLst>
              <a:gd name="adj" fmla="val 4027"/>
            </a:avLst>
          </a:prstGeom>
          <a:solidFill>
            <a:srgbClr val="274B3E"/>
          </a:solidFill>
          <a:ln w="9525">
            <a:solidFill>
              <a:srgbClr val="274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5AF621-4B80-40CB-996D-0E6837C510DD}"/>
              </a:ext>
            </a:extLst>
          </p:cNvPr>
          <p:cNvSpPr>
            <a:spLocks noGrp="1"/>
          </p:cNvSpPr>
          <p:nvPr/>
        </p:nvSpPr>
        <p:spPr>
          <a:xfrm>
            <a:off x="8591550" y="2543175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DF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FF3EA"/>
                </a:solidFill>
                <a:latin typeface="Helvetica Neue"/>
                <a:ea typeface="Helvetica Neue"/>
                <a:cs typeface="Helvetica Neue"/>
              </a:rPr>
              <a:t>What the user sees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1863265-16EA-4861-BD65-C101653A6418}"/>
              </a:ext>
            </a:extLst>
          </p:cNvPr>
          <p:cNvSpPr>
            <a:spLocks noGrp="1"/>
          </p:cNvSpPr>
          <p:nvPr/>
        </p:nvSpPr>
        <p:spPr>
          <a:xfrm>
            <a:off x="8591550" y="32289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FCFBC"/>
          </a:solidFill>
          <a:ln w="9525">
            <a:solidFill>
              <a:srgbClr val="9FC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D8FAB8-EB38-48F9-A070-BBCED11F6AAE}"/>
              </a:ext>
            </a:extLst>
          </p:cNvPr>
          <p:cNvSpPr>
            <a:spLocks noGrp="1"/>
          </p:cNvSpPr>
          <p:nvPr/>
        </p:nvSpPr>
        <p:spPr>
          <a:xfrm>
            <a:off x="8820150" y="3133725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09" lnSpcReduction="10000"/>
          </a:bodyPr>
          <a:lstStyle/>
          <a:p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Date, floor and monitor filters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ED71AF1-BB20-43D7-9B86-5F065947D1E0}"/>
              </a:ext>
            </a:extLst>
          </p:cNvPr>
          <p:cNvSpPr>
            <a:spLocks noGrp="1"/>
          </p:cNvSpPr>
          <p:nvPr/>
        </p:nvSpPr>
        <p:spPr>
          <a:xfrm>
            <a:off x="8591550" y="40576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FCFBC"/>
          </a:solidFill>
          <a:ln w="9525">
            <a:solidFill>
              <a:srgbClr val="9FC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7F62BF8-95F6-4F20-BC67-CAD8BC15EF53}"/>
              </a:ext>
            </a:extLst>
          </p:cNvPr>
          <p:cNvSpPr>
            <a:spLocks noGrp="1"/>
          </p:cNvSpPr>
          <p:nvPr/>
        </p:nvSpPr>
        <p:spPr>
          <a:xfrm>
            <a:off x="8820150" y="396240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829"/>
          </a:bodyPr>
          <a:lstStyle/>
          <a:p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availability cards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9EB07D3-44C6-4A2A-99FE-E4778240F9E8}"/>
              </a:ext>
            </a:extLst>
          </p:cNvPr>
          <p:cNvSpPr>
            <a:spLocks noGrp="1"/>
          </p:cNvSpPr>
          <p:nvPr/>
        </p:nvSpPr>
        <p:spPr>
          <a:xfrm>
            <a:off x="8591550" y="4886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FCFBC"/>
          </a:solidFill>
          <a:ln w="9525">
            <a:solidFill>
              <a:srgbClr val="9FC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55D395-1C06-4531-B6B5-FB5594FAD1AE}"/>
              </a:ext>
            </a:extLst>
          </p:cNvPr>
          <p:cNvSpPr>
            <a:spLocks noGrp="1"/>
          </p:cNvSpPr>
          <p:nvPr/>
        </p:nvSpPr>
        <p:spPr>
          <a:xfrm>
            <a:off x="8820150" y="4791075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Booking and cancellation controls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ABB403-021D-41F9-9BDB-523C04E23DD6}"/>
              </a:ext>
            </a:extLst>
          </p:cNvPr>
          <p:cNvSpPr>
            <a:spLocks noGrp="1"/>
          </p:cNvSpPr>
          <p:nvPr/>
        </p:nvSpPr>
        <p:spPr>
          <a:xfrm>
            <a:off x="514350" y="6467475"/>
            <a:ext cx="742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Representative UI state based on the seeded 2026-07-24 data.</a:t>
            </a:r>
          </a:p>
        </p:txBody>
      </p:sp>
    </p:spTree>
    <p:extLst>
      <p:ext uri="{BB962C8B-B14F-4D97-AF65-F5344CB8AC3E}">
        <p14:creationId xmlns:p14="http://schemas.microsoft.com/office/powerpoint/2010/main" val="70601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64B5BD5-7B8A-44A9-9CFD-C75C2EF11147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E983E6-5AB3-4CF5-9109-BA6A0891CEDD}"/>
              </a:ext>
            </a:extLst>
          </p:cNvPr>
          <p:cNvSpPr>
            <a:spLocks noGrp="1"/>
          </p:cNvSpPr>
          <p:nvPr/>
        </p:nvSpPr>
        <p:spPr>
          <a:xfrm>
            <a:off x="11191875" y="333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502F78-C7E6-4A0E-9EF1-D35B3B1192C2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Demo: prove the complete booking loop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33256D-DED3-44FD-A96D-5210CA231276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Show the vertical slice, including the business rule that prevents double booking.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0782ED-42AB-4CC6-BEC5-36F845E7A349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63300" cy="9525"/>
          </a:xfrm>
          <a:prstGeom prst="rect">
            <a:avLst/>
          </a:prstGeom>
          <a:solidFill>
            <a:srgbClr val="D4DED5"/>
          </a:solidFill>
          <a:ln w="0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7EF5B9-8424-42A5-8D43-B1ED3AA001F5}"/>
              </a:ext>
            </a:extLst>
          </p:cNvPr>
          <p:cNvSpPr>
            <a:spLocks noGrp="1"/>
          </p:cNvSpPr>
          <p:nvPr/>
        </p:nvSpPr>
        <p:spPr>
          <a:xfrm>
            <a:off x="514350" y="2838450"/>
            <a:ext cx="238125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22D34F-0A83-4E14-B8A0-7AA48C293FF5}"/>
              </a:ext>
            </a:extLst>
          </p:cNvPr>
          <p:cNvSpPr>
            <a:spLocks noGrp="1"/>
          </p:cNvSpPr>
          <p:nvPr/>
        </p:nvSpPr>
        <p:spPr>
          <a:xfrm>
            <a:off x="723900" y="3057525"/>
            <a:ext cx="28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5E9AF3-3662-473F-A352-ACDC45214FBA}"/>
              </a:ext>
            </a:extLst>
          </p:cNvPr>
          <p:cNvSpPr>
            <a:spLocks noGrp="1"/>
          </p:cNvSpPr>
          <p:nvPr/>
        </p:nvSpPr>
        <p:spPr>
          <a:xfrm>
            <a:off x="723900" y="3495675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Find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D8C626-16C2-46B4-B6FC-D9BB384DAF4B}"/>
              </a:ext>
            </a:extLst>
          </p:cNvPr>
          <p:cNvSpPr>
            <a:spLocks noGrp="1"/>
          </p:cNvSpPr>
          <p:nvPr/>
        </p:nvSpPr>
        <p:spPr>
          <a:xfrm>
            <a:off x="723900" y="3952875"/>
            <a:ext cx="1857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Select 24 Jul 2026 and load free desks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1A5E3A-24EE-4CC1-AA4B-B81076D2050A}"/>
              </a:ext>
            </a:extLst>
          </p:cNvPr>
          <p:cNvSpPr>
            <a:spLocks noGrp="1"/>
          </p:cNvSpPr>
          <p:nvPr/>
        </p:nvSpPr>
        <p:spPr>
          <a:xfrm>
            <a:off x="2905125" y="3905250"/>
            <a:ext cx="161925" cy="28575"/>
          </a:xfrm>
          <a:prstGeom prst="rect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D235A790-DCE1-49A8-BE35-EFE4DDA19E8F}"/>
              </a:ext>
            </a:extLst>
          </p:cNvPr>
          <p:cNvSpPr>
            <a:spLocks noGrp="1"/>
          </p:cNvSpPr>
          <p:nvPr/>
        </p:nvSpPr>
        <p:spPr>
          <a:xfrm>
            <a:off x="3028950" y="3829050"/>
            <a:ext cx="171450" cy="171450"/>
          </a:xfrm>
          <a:prstGeom prst="triangle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F82844E-16A3-4CB1-9789-1F7840BAFE0C}"/>
              </a:ext>
            </a:extLst>
          </p:cNvPr>
          <p:cNvSpPr>
            <a:spLocks noGrp="1"/>
          </p:cNvSpPr>
          <p:nvPr/>
        </p:nvSpPr>
        <p:spPr>
          <a:xfrm>
            <a:off x="3295650" y="2838450"/>
            <a:ext cx="238125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CBD09D-7EEF-4A98-BF6E-E7E572D1E094}"/>
              </a:ext>
            </a:extLst>
          </p:cNvPr>
          <p:cNvSpPr>
            <a:spLocks noGrp="1"/>
          </p:cNvSpPr>
          <p:nvPr/>
        </p:nvSpPr>
        <p:spPr>
          <a:xfrm>
            <a:off x="3505200" y="3057525"/>
            <a:ext cx="28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A29459-CFA4-4AF9-98BA-65E5FC425606}"/>
              </a:ext>
            </a:extLst>
          </p:cNvPr>
          <p:cNvSpPr>
            <a:spLocks noGrp="1"/>
          </p:cNvSpPr>
          <p:nvPr/>
        </p:nvSpPr>
        <p:spPr>
          <a:xfrm>
            <a:off x="3505200" y="3495675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Book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8021D7-6C2D-4C3B-84E4-FE93D07DA63E}"/>
              </a:ext>
            </a:extLst>
          </p:cNvPr>
          <p:cNvSpPr>
            <a:spLocks noGrp="1"/>
          </p:cNvSpPr>
          <p:nvPr/>
        </p:nvSpPr>
        <p:spPr>
          <a:xfrm>
            <a:off x="3505200" y="3952875"/>
            <a:ext cx="1857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Choose a desk and enter a name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2E1B8-4C28-462D-A1E9-EC564D0937B0}"/>
              </a:ext>
            </a:extLst>
          </p:cNvPr>
          <p:cNvSpPr>
            <a:spLocks noGrp="1"/>
          </p:cNvSpPr>
          <p:nvPr/>
        </p:nvSpPr>
        <p:spPr>
          <a:xfrm>
            <a:off x="5686425" y="3905250"/>
            <a:ext cx="161925" cy="28575"/>
          </a:xfrm>
          <a:prstGeom prst="rect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5EE14ADB-82A4-4E28-8869-B74A0FB4013A}"/>
              </a:ext>
            </a:extLst>
          </p:cNvPr>
          <p:cNvSpPr>
            <a:spLocks noGrp="1"/>
          </p:cNvSpPr>
          <p:nvPr/>
        </p:nvSpPr>
        <p:spPr>
          <a:xfrm>
            <a:off x="5810250" y="3829050"/>
            <a:ext cx="171450" cy="171450"/>
          </a:xfrm>
          <a:prstGeom prst="triangle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7F1D564-AE57-491B-B322-3B68D099EAB3}"/>
              </a:ext>
            </a:extLst>
          </p:cNvPr>
          <p:cNvSpPr>
            <a:spLocks noGrp="1"/>
          </p:cNvSpPr>
          <p:nvPr/>
        </p:nvSpPr>
        <p:spPr>
          <a:xfrm>
            <a:off x="6076950" y="2838450"/>
            <a:ext cx="2381250" cy="2143125"/>
          </a:xfrm>
          <a:prstGeom prst="roundRect">
            <a:avLst>
              <a:gd name="adj" fmla="val 5333"/>
            </a:avLst>
          </a:prstGeom>
          <a:solidFill>
            <a:srgbClr val="FFF4E5"/>
          </a:solidFill>
          <a:ln w="9525">
            <a:solidFill>
              <a:srgbClr val="E7C5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B69FE8-4F1F-4CC6-A03C-681DF652DE1D}"/>
              </a:ext>
            </a:extLst>
          </p:cNvPr>
          <p:cNvSpPr>
            <a:spLocks noGrp="1"/>
          </p:cNvSpPr>
          <p:nvPr/>
        </p:nvSpPr>
        <p:spPr>
          <a:xfrm>
            <a:off x="6286500" y="3057525"/>
            <a:ext cx="28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401547-95EB-41C4-8C81-A0CBA873AB0C}"/>
              </a:ext>
            </a:extLst>
          </p:cNvPr>
          <p:cNvSpPr>
            <a:spLocks noGrp="1"/>
          </p:cNvSpPr>
          <p:nvPr/>
        </p:nvSpPr>
        <p:spPr>
          <a:xfrm>
            <a:off x="6286500" y="3495675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Conflict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C14ED8-E4F8-462E-98F7-F28E9CA34258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857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Repeat the same desk/date → 409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5CD159-F86D-4996-9FB2-046E98646423}"/>
              </a:ext>
            </a:extLst>
          </p:cNvPr>
          <p:cNvSpPr>
            <a:spLocks noGrp="1"/>
          </p:cNvSpPr>
          <p:nvPr/>
        </p:nvSpPr>
        <p:spPr>
          <a:xfrm>
            <a:off x="8467725" y="3905250"/>
            <a:ext cx="161925" cy="28575"/>
          </a:xfrm>
          <a:prstGeom prst="rect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2B92BFCB-3D54-4A66-B524-33BD996E9F6E}"/>
              </a:ext>
            </a:extLst>
          </p:cNvPr>
          <p:cNvSpPr>
            <a:spLocks noGrp="1"/>
          </p:cNvSpPr>
          <p:nvPr/>
        </p:nvSpPr>
        <p:spPr>
          <a:xfrm>
            <a:off x="8591550" y="3829050"/>
            <a:ext cx="171450" cy="171450"/>
          </a:xfrm>
          <a:prstGeom prst="triangle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AD0A316-96F6-4543-AD5F-F71BBA1B8499}"/>
              </a:ext>
            </a:extLst>
          </p:cNvPr>
          <p:cNvSpPr>
            <a:spLocks noGrp="1"/>
          </p:cNvSpPr>
          <p:nvPr/>
        </p:nvSpPr>
        <p:spPr>
          <a:xfrm>
            <a:off x="8858250" y="2838450"/>
            <a:ext cx="238125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CF4F88-D895-49C9-A32C-2212F8B2CE76}"/>
              </a:ext>
            </a:extLst>
          </p:cNvPr>
          <p:cNvSpPr>
            <a:spLocks noGrp="1"/>
          </p:cNvSpPr>
          <p:nvPr/>
        </p:nvSpPr>
        <p:spPr>
          <a:xfrm>
            <a:off x="9067800" y="3057525"/>
            <a:ext cx="28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64EA49-7F7C-41C8-9417-19B9B587EE2B}"/>
              </a:ext>
            </a:extLst>
          </p:cNvPr>
          <p:cNvSpPr>
            <a:spLocks noGrp="1"/>
          </p:cNvSpPr>
          <p:nvPr/>
        </p:nvSpPr>
        <p:spPr>
          <a:xfrm>
            <a:off x="9067800" y="3495675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Cancel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ACE2AA-7CC1-46FA-B2D2-A8B187A9C5E6}"/>
              </a:ext>
            </a:extLst>
          </p:cNvPr>
          <p:cNvSpPr>
            <a:spLocks noGrp="1"/>
          </p:cNvSpPr>
          <p:nvPr/>
        </p:nvSpPr>
        <p:spPr>
          <a:xfrm>
            <a:off x="9067800" y="3952875"/>
            <a:ext cx="1857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Delete the booking and refresh availability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61C159-047B-4B61-A610-29657E862FCF}"/>
              </a:ext>
            </a:extLst>
          </p:cNvPr>
          <p:cNvSpPr>
            <a:spLocks noGrp="1"/>
          </p:cNvSpPr>
          <p:nvPr/>
        </p:nvSpPr>
        <p:spPr>
          <a:xfrm>
            <a:off x="514350" y="5476875"/>
            <a:ext cx="1047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517" lnSpcReduction="10000"/>
          </a:bodyPr>
          <a:lstStyle/>
          <a:p>
            <a:pPr algn="l">
              <a:defRPr sz="1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The live demo answers the core question: can an employee reliably reserve one desk for one day?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88A762-38D6-452B-8472-B0F8E935DA4C}"/>
              </a:ext>
            </a:extLst>
          </p:cNvPr>
          <p:cNvSpPr>
            <a:spLocks noGrp="1"/>
          </p:cNvSpPr>
          <p:nvPr/>
        </p:nvSpPr>
        <p:spPr>
          <a:xfrm>
            <a:off x="514350" y="6467475"/>
            <a:ext cx="742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DeskFlow · Hot desk booking for the Helsinki office</a:t>
            </a:r>
          </a:p>
        </p:txBody>
      </p:sp>
    </p:spTree>
    <p:extLst>
      <p:ext uri="{BB962C8B-B14F-4D97-AF65-F5344CB8AC3E}">
        <p14:creationId xmlns:p14="http://schemas.microsoft.com/office/powerpoint/2010/main" val="103157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60D73F2-9AC1-45A5-9227-479175967F8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F2E7A0-D70D-4BCD-894D-00FE1657F1EE}"/>
              </a:ext>
            </a:extLst>
          </p:cNvPr>
          <p:cNvSpPr>
            <a:spLocks noGrp="1"/>
          </p:cNvSpPr>
          <p:nvPr/>
        </p:nvSpPr>
        <p:spPr>
          <a:xfrm>
            <a:off x="11191875" y="333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714A4-CAE0-4AD4-B812-C52141601B67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Architecture stays deliberately small and traceable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68274B-CE9E-40F0-9E86-628952C6B61D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A static frontend, focused REST layer, explicit JDBC repositories, and a relational data store.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68F706-ACF2-4CE2-B766-7CD1A9DB34C4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63300" cy="9525"/>
          </a:xfrm>
          <a:prstGeom prst="rect">
            <a:avLst/>
          </a:prstGeom>
          <a:solidFill>
            <a:srgbClr val="D4DED5"/>
          </a:solidFill>
          <a:ln w="0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884521F-EAF2-4EFC-86C1-602E8AB78458}"/>
              </a:ext>
            </a:extLst>
          </p:cNvPr>
          <p:cNvSpPr>
            <a:spLocks noGrp="1"/>
          </p:cNvSpPr>
          <p:nvPr/>
        </p:nvSpPr>
        <p:spPr>
          <a:xfrm>
            <a:off x="514350" y="2724150"/>
            <a:ext cx="230505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BC2E41-33E4-464F-8A8E-5F8170A43F86}"/>
              </a:ext>
            </a:extLst>
          </p:cNvPr>
          <p:cNvSpPr>
            <a:spLocks noGrp="1"/>
          </p:cNvSpPr>
          <p:nvPr/>
        </p:nvSpPr>
        <p:spPr>
          <a:xfrm>
            <a:off x="704850" y="3000375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Browser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AC29BF-959B-4FB2-B78B-D45F92E57D4B}"/>
              </a:ext>
            </a:extLst>
          </p:cNvPr>
          <p:cNvSpPr>
            <a:spLocks noGrp="1"/>
          </p:cNvSpPr>
          <p:nvPr/>
        </p:nvSpPr>
        <p:spPr>
          <a:xfrm>
            <a:off x="704850" y="3409950"/>
            <a:ext cx="1857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HTML · CSS · JS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B594E-2E01-4007-99A0-119C5373CA4B}"/>
              </a:ext>
            </a:extLst>
          </p:cNvPr>
          <p:cNvSpPr>
            <a:spLocks noGrp="1"/>
          </p:cNvSpPr>
          <p:nvPr/>
        </p:nvSpPr>
        <p:spPr>
          <a:xfrm>
            <a:off x="704850" y="3943350"/>
            <a:ext cx="1857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Fetches same-origin API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CDB8C9-9132-410F-891D-D7AEB0F9F3A5}"/>
              </a:ext>
            </a:extLst>
          </p:cNvPr>
          <p:cNvSpPr>
            <a:spLocks noGrp="1"/>
          </p:cNvSpPr>
          <p:nvPr/>
        </p:nvSpPr>
        <p:spPr>
          <a:xfrm>
            <a:off x="2828925" y="3705225"/>
            <a:ext cx="219075" cy="28575"/>
          </a:xfrm>
          <a:prstGeom prst="rect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EBD2A1FE-DEA2-466A-89A9-9E8937B8BC8F}"/>
              </a:ext>
            </a:extLst>
          </p:cNvPr>
          <p:cNvSpPr>
            <a:spLocks noGrp="1"/>
          </p:cNvSpPr>
          <p:nvPr/>
        </p:nvSpPr>
        <p:spPr>
          <a:xfrm>
            <a:off x="3009900" y="3629025"/>
            <a:ext cx="171450" cy="171450"/>
          </a:xfrm>
          <a:prstGeom prst="triangle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0321519-AC3B-48C1-8CED-1B201A4FF63F}"/>
              </a:ext>
            </a:extLst>
          </p:cNvPr>
          <p:cNvSpPr>
            <a:spLocks noGrp="1"/>
          </p:cNvSpPr>
          <p:nvPr/>
        </p:nvSpPr>
        <p:spPr>
          <a:xfrm>
            <a:off x="3295650" y="2724150"/>
            <a:ext cx="2305050" cy="1952625"/>
          </a:xfrm>
          <a:prstGeom prst="roundRect">
            <a:avLst>
              <a:gd name="adj" fmla="val 5854"/>
            </a:avLst>
          </a:prstGeom>
          <a:solidFill>
            <a:srgbClr val="DFF3EA"/>
          </a:solidFill>
          <a:ln w="9525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2C68ED-AA41-4416-9778-4A7A3F49A6EF}"/>
              </a:ext>
            </a:extLst>
          </p:cNvPr>
          <p:cNvSpPr>
            <a:spLocks noGrp="1"/>
          </p:cNvSpPr>
          <p:nvPr/>
        </p:nvSpPr>
        <p:spPr>
          <a:xfrm>
            <a:off x="3486150" y="3000375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Spring Boot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E633B0-AD97-402C-A41A-6B6AA9B1E9DA}"/>
              </a:ext>
            </a:extLst>
          </p:cNvPr>
          <p:cNvSpPr>
            <a:spLocks noGrp="1"/>
          </p:cNvSpPr>
          <p:nvPr/>
        </p:nvSpPr>
        <p:spPr>
          <a:xfrm>
            <a:off x="3486150" y="3409950"/>
            <a:ext cx="1857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Controllers · Services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80C5B-6F52-4447-BC47-F36AC2E9B284}"/>
              </a:ext>
            </a:extLst>
          </p:cNvPr>
          <p:cNvSpPr>
            <a:spLocks noGrp="1"/>
          </p:cNvSpPr>
          <p:nvPr/>
        </p:nvSpPr>
        <p:spPr>
          <a:xfrm>
            <a:off x="3486150" y="3943350"/>
            <a:ext cx="1857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638"/>
          </a:bodyPr>
          <a:lstStyle/>
          <a:p>
            <a:pPr algn="l">
              <a:def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Validates and applies rules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BF8377-CD00-4FA5-9F4F-92178DA64F76}"/>
              </a:ext>
            </a:extLst>
          </p:cNvPr>
          <p:cNvSpPr>
            <a:spLocks noGrp="1"/>
          </p:cNvSpPr>
          <p:nvPr/>
        </p:nvSpPr>
        <p:spPr>
          <a:xfrm>
            <a:off x="5610225" y="3705225"/>
            <a:ext cx="219075" cy="28575"/>
          </a:xfrm>
          <a:prstGeom prst="rect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A89489D6-6E06-40BD-8D81-C95119EDC46D}"/>
              </a:ext>
            </a:extLst>
          </p:cNvPr>
          <p:cNvSpPr>
            <a:spLocks noGrp="1"/>
          </p:cNvSpPr>
          <p:nvPr/>
        </p:nvSpPr>
        <p:spPr>
          <a:xfrm>
            <a:off x="5791200" y="3629025"/>
            <a:ext cx="171450" cy="171450"/>
          </a:xfrm>
          <a:prstGeom prst="triangle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1653E3E-C39E-4EB9-9859-340D52EA155B}"/>
              </a:ext>
            </a:extLst>
          </p:cNvPr>
          <p:cNvSpPr>
            <a:spLocks noGrp="1"/>
          </p:cNvSpPr>
          <p:nvPr/>
        </p:nvSpPr>
        <p:spPr>
          <a:xfrm>
            <a:off x="6076950" y="2724150"/>
            <a:ext cx="230505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B7503-0069-49E4-B255-250AD0210C16}"/>
              </a:ext>
            </a:extLst>
          </p:cNvPr>
          <p:cNvSpPr>
            <a:spLocks noGrp="1"/>
          </p:cNvSpPr>
          <p:nvPr/>
        </p:nvSpPr>
        <p:spPr>
          <a:xfrm>
            <a:off x="6267450" y="3000375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JDBC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A1EBBD-B35D-4F50-8F31-032760040E6D}"/>
              </a:ext>
            </a:extLst>
          </p:cNvPr>
          <p:cNvSpPr>
            <a:spLocks noGrp="1"/>
          </p:cNvSpPr>
          <p:nvPr/>
        </p:nvSpPr>
        <p:spPr>
          <a:xfrm>
            <a:off x="6267450" y="3409950"/>
            <a:ext cx="1857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Repositories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253DD3-2522-470A-8995-BFA9D2EF73A3}"/>
              </a:ext>
            </a:extLst>
          </p:cNvPr>
          <p:cNvSpPr>
            <a:spLocks noGrp="1"/>
          </p:cNvSpPr>
          <p:nvPr/>
        </p:nvSpPr>
        <p:spPr>
          <a:xfrm>
            <a:off x="6267450" y="3943350"/>
            <a:ext cx="1857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Maps explicit SQL rows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13254E-9CF6-4D3E-B476-980161127CBD}"/>
              </a:ext>
            </a:extLst>
          </p:cNvPr>
          <p:cNvSpPr>
            <a:spLocks noGrp="1"/>
          </p:cNvSpPr>
          <p:nvPr/>
        </p:nvSpPr>
        <p:spPr>
          <a:xfrm>
            <a:off x="8391525" y="3705225"/>
            <a:ext cx="219075" cy="28575"/>
          </a:xfrm>
          <a:prstGeom prst="rect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04A5D3E3-D330-4648-A140-925ADDAD92D7}"/>
              </a:ext>
            </a:extLst>
          </p:cNvPr>
          <p:cNvSpPr>
            <a:spLocks noGrp="1"/>
          </p:cNvSpPr>
          <p:nvPr/>
        </p:nvSpPr>
        <p:spPr>
          <a:xfrm>
            <a:off x="8572500" y="3629025"/>
            <a:ext cx="171450" cy="171450"/>
          </a:xfrm>
          <a:prstGeom prst="triangle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8195757-4D77-435B-8FBE-E913668986A1}"/>
              </a:ext>
            </a:extLst>
          </p:cNvPr>
          <p:cNvSpPr>
            <a:spLocks noGrp="1"/>
          </p:cNvSpPr>
          <p:nvPr/>
        </p:nvSpPr>
        <p:spPr>
          <a:xfrm>
            <a:off x="8858250" y="2724150"/>
            <a:ext cx="2305050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B9967B-9CDE-4A5F-9263-91F978D4575C}"/>
              </a:ext>
            </a:extLst>
          </p:cNvPr>
          <p:cNvSpPr>
            <a:spLocks noGrp="1"/>
          </p:cNvSpPr>
          <p:nvPr/>
        </p:nvSpPr>
        <p:spPr>
          <a:xfrm>
            <a:off x="9048750" y="3000375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MySQL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EB5A4B-3CF4-44CD-93D3-AF825C112E97}"/>
              </a:ext>
            </a:extLst>
          </p:cNvPr>
          <p:cNvSpPr>
            <a:spLocks noGrp="1"/>
          </p:cNvSpPr>
          <p:nvPr/>
        </p:nvSpPr>
        <p:spPr>
          <a:xfrm>
            <a:off x="9048750" y="3409950"/>
            <a:ext cx="1857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 · booking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741FDD-4B51-4637-AFE1-8097E016663A}"/>
              </a:ext>
            </a:extLst>
          </p:cNvPr>
          <p:cNvSpPr>
            <a:spLocks noGrp="1"/>
          </p:cNvSpPr>
          <p:nvPr/>
        </p:nvSpPr>
        <p:spPr>
          <a:xfrm>
            <a:off x="9048750" y="3943350"/>
            <a:ext cx="1857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Foreign key + unique rule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515289B-20D1-4885-9690-DD27A111EFFF}"/>
              </a:ext>
            </a:extLst>
          </p:cNvPr>
          <p:cNvSpPr>
            <a:spLocks noGrp="1"/>
          </p:cNvSpPr>
          <p:nvPr/>
        </p:nvSpPr>
        <p:spPr>
          <a:xfrm>
            <a:off x="2667000" y="5286375"/>
            <a:ext cx="6858000" cy="495300"/>
          </a:xfrm>
          <a:prstGeom prst="roundRect">
            <a:avLst>
              <a:gd name="adj" fmla="val 23077"/>
            </a:avLst>
          </a:prstGeom>
          <a:solidFill>
            <a:srgbClr val="F6F7F2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22BE34-0630-4464-9DFB-0B723D6A4D28}"/>
              </a:ext>
            </a:extLst>
          </p:cNvPr>
          <p:cNvSpPr>
            <a:spLocks noGrp="1"/>
          </p:cNvSpPr>
          <p:nvPr/>
        </p:nvSpPr>
        <p:spPr>
          <a:xfrm>
            <a:off x="2857500" y="5438775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833" lnSpcReduction="20000"/>
          </a:bodyPr>
          <a:lstStyle/>
          <a:p>
            <a:pPr algn="ctr">
              <a:defRPr sz="1500" b="1">
                <a:solidFill>
                  <a:srgbClr val="274B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74B3E"/>
                </a:solidFill>
                <a:latin typeface="Helvetica Neue"/>
                <a:ea typeface="Helvetica Neue"/>
                <a:cs typeface="Helvetica Neue"/>
              </a:rPr>
              <a:t>Shared error handling returns compact JSON errors across the API.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8DD97A-0F7B-49E7-8999-66C56386C89E}"/>
              </a:ext>
            </a:extLst>
          </p:cNvPr>
          <p:cNvSpPr>
            <a:spLocks noGrp="1"/>
          </p:cNvSpPr>
          <p:nvPr/>
        </p:nvSpPr>
        <p:spPr>
          <a:xfrm>
            <a:off x="514350" y="6467475"/>
            <a:ext cx="742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DeskFlow · Hot desk booking for the Helsinki office</a:t>
            </a:r>
          </a:p>
        </p:txBody>
      </p:sp>
    </p:spTree>
    <p:extLst>
      <p:ext uri="{BB962C8B-B14F-4D97-AF65-F5344CB8AC3E}">
        <p14:creationId xmlns:p14="http://schemas.microsoft.com/office/powerpoint/2010/main" val="186620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48A526B-2D58-498B-B8B6-7B8AACF70B49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12C750-1A8A-4A6E-B8E4-B986A2792D00}"/>
              </a:ext>
            </a:extLst>
          </p:cNvPr>
          <p:cNvSpPr>
            <a:spLocks noGrp="1"/>
          </p:cNvSpPr>
          <p:nvPr/>
        </p:nvSpPr>
        <p:spPr>
          <a:xfrm>
            <a:off x="11191875" y="333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248E2-5222-4BAB-A8D7-C36473790983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A pragmatic stack supports a thin, working slice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4E6930-32EB-41E9-A920-17A089032C5A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63300" cy="9525"/>
          </a:xfrm>
          <a:prstGeom prst="rect">
            <a:avLst/>
          </a:prstGeom>
          <a:solidFill>
            <a:srgbClr val="D4DED5"/>
          </a:solidFill>
          <a:ln w="0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076F51-5BEF-497A-8F08-594C052D5872}"/>
              </a:ext>
            </a:extLst>
          </p:cNvPr>
          <p:cNvSpPr>
            <a:spLocks noGrp="1"/>
          </p:cNvSpPr>
          <p:nvPr/>
        </p:nvSpPr>
        <p:spPr>
          <a:xfrm>
            <a:off x="514350" y="2400300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052183-A820-467E-BE9E-66AC1B345676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 lnSpcReduction="10000"/>
          </a:bodyPr>
          <a:lstStyle/>
          <a:p>
            <a:pPr algn="l">
              <a:def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Java 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60928F-7D83-4B92-B27D-B32DECE9B809}"/>
              </a:ext>
            </a:extLst>
          </p:cNvPr>
          <p:cNvSpPr>
            <a:spLocks noGrp="1"/>
          </p:cNvSpPr>
          <p:nvPr/>
        </p:nvSpPr>
        <p:spPr>
          <a:xfrm>
            <a:off x="723900" y="30956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Application runtime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E7804E-6D37-40B5-A726-18621ED77813}"/>
              </a:ext>
            </a:extLst>
          </p:cNvPr>
          <p:cNvSpPr>
            <a:spLocks noGrp="1"/>
          </p:cNvSpPr>
          <p:nvPr/>
        </p:nvSpPr>
        <p:spPr>
          <a:xfrm>
            <a:off x="4229100" y="2400300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55B9A-0466-4796-B4C6-BCBB7E3D0382}"/>
              </a:ext>
            </a:extLst>
          </p:cNvPr>
          <p:cNvSpPr>
            <a:spLocks noGrp="1"/>
          </p:cNvSpPr>
          <p:nvPr/>
        </p:nvSpPr>
        <p:spPr>
          <a:xfrm>
            <a:off x="4438650" y="26479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 lnSpcReduction="10000"/>
          </a:bodyPr>
          <a:lstStyle/>
          <a:p>
            <a:pPr algn="l">
              <a:def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Spring Boot 3.4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5DF465-79C4-49A6-8F97-1C4D9A019EAF}"/>
              </a:ext>
            </a:extLst>
          </p:cNvPr>
          <p:cNvSpPr>
            <a:spLocks noGrp="1"/>
          </p:cNvSpPr>
          <p:nvPr/>
        </p:nvSpPr>
        <p:spPr>
          <a:xfrm>
            <a:off x="4438650" y="30956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Web, validation, JDBC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1F65E3-E08B-43A5-865F-F23C79A4DFF3}"/>
              </a:ext>
            </a:extLst>
          </p:cNvPr>
          <p:cNvSpPr>
            <a:spLocks noGrp="1"/>
          </p:cNvSpPr>
          <p:nvPr/>
        </p:nvSpPr>
        <p:spPr>
          <a:xfrm>
            <a:off x="7943850" y="2400300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DB8CE2-D8A9-4C08-A806-A68FDFDB1A24}"/>
              </a:ext>
            </a:extLst>
          </p:cNvPr>
          <p:cNvSpPr>
            <a:spLocks noGrp="1"/>
          </p:cNvSpPr>
          <p:nvPr/>
        </p:nvSpPr>
        <p:spPr>
          <a:xfrm>
            <a:off x="8153400" y="26479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 lnSpcReduction="10000"/>
          </a:bodyPr>
          <a:lstStyle/>
          <a:p>
            <a:pPr algn="l">
              <a:def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MySQL 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22B495-4B91-4D96-93AA-8258FB9C9638}"/>
              </a:ext>
            </a:extLst>
          </p:cNvPr>
          <p:cNvSpPr>
            <a:spLocks noGrp="1"/>
          </p:cNvSpPr>
          <p:nvPr/>
        </p:nvSpPr>
        <p:spPr>
          <a:xfrm>
            <a:off x="8153400" y="30956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Relational persistence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455BE6B-29CC-4302-97B6-9F7AE05493FF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566528-BCBE-45A9-893A-8D11E8599D4A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 lnSpcReduction="10000"/>
          </a:bodyPr>
          <a:lstStyle/>
          <a:p>
            <a:pPr algn="l">
              <a:def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Spring JDBC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1F9E31-EDC0-4DE8-81F2-6DC8A03B4603}"/>
              </a:ext>
            </a:extLst>
          </p:cNvPr>
          <p:cNvSpPr>
            <a:spLocks noGrp="1"/>
          </p:cNvSpPr>
          <p:nvPr/>
        </p:nvSpPr>
        <p:spPr>
          <a:xfrm>
            <a:off x="723900" y="47910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Explicit SQL and row mapping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96DE5F8-83C5-4F9E-ADB6-967C59E2D57C}"/>
              </a:ext>
            </a:extLst>
          </p:cNvPr>
          <p:cNvSpPr>
            <a:spLocks noGrp="1"/>
          </p:cNvSpPr>
          <p:nvPr/>
        </p:nvSpPr>
        <p:spPr>
          <a:xfrm>
            <a:off x="4229100" y="4095750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CCF5F8-7B21-4B10-B366-CF824BEC31F9}"/>
              </a:ext>
            </a:extLst>
          </p:cNvPr>
          <p:cNvSpPr>
            <a:spLocks noGrp="1"/>
          </p:cNvSpPr>
          <p:nvPr/>
        </p:nvSpPr>
        <p:spPr>
          <a:xfrm>
            <a:off x="4438650" y="434340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 lnSpcReduction="10000"/>
          </a:bodyPr>
          <a:lstStyle/>
          <a:p>
            <a:pPr algn="l">
              <a:def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Vanilla JavaScript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107703-5466-4D05-8198-7A67A30F49AE}"/>
              </a:ext>
            </a:extLst>
          </p:cNvPr>
          <p:cNvSpPr>
            <a:spLocks noGrp="1"/>
          </p:cNvSpPr>
          <p:nvPr/>
        </p:nvSpPr>
        <p:spPr>
          <a:xfrm>
            <a:off x="4438650" y="47910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No-build browser interface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C18852F-B02F-4563-AD5C-DB5048956ECD}"/>
              </a:ext>
            </a:extLst>
          </p:cNvPr>
          <p:cNvSpPr>
            <a:spLocks noGrp="1"/>
          </p:cNvSpPr>
          <p:nvPr/>
        </p:nvSpPr>
        <p:spPr>
          <a:xfrm>
            <a:off x="7943850" y="4095750"/>
            <a:ext cx="33337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9D2DA8-6E3D-4C57-A815-6F763C0569F4}"/>
              </a:ext>
            </a:extLst>
          </p:cNvPr>
          <p:cNvSpPr>
            <a:spLocks noGrp="1"/>
          </p:cNvSpPr>
          <p:nvPr/>
        </p:nvSpPr>
        <p:spPr>
          <a:xfrm>
            <a:off x="8153400" y="434340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 lnSpcReduction="10000"/>
          </a:bodyPr>
          <a:lstStyle/>
          <a:p>
            <a:pPr algn="l">
              <a:def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Maven + JUnit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F43E71-964C-4E7C-960C-27FB49B0D8E6}"/>
              </a:ext>
            </a:extLst>
          </p:cNvPr>
          <p:cNvSpPr>
            <a:spLocks noGrp="1"/>
          </p:cNvSpPr>
          <p:nvPr/>
        </p:nvSpPr>
        <p:spPr>
          <a:xfrm>
            <a:off x="8153400" y="47910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Build and service tests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1794CD-3894-415A-A59A-10F6EC61BD51}"/>
              </a:ext>
            </a:extLst>
          </p:cNvPr>
          <p:cNvSpPr>
            <a:spLocks noGrp="1"/>
          </p:cNvSpPr>
          <p:nvPr/>
        </p:nvSpPr>
        <p:spPr>
          <a:xfrm>
            <a:off x="514350" y="6467475"/>
            <a:ext cx="742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DeskFlow · Hot desk booking for the Helsinki office</a:t>
            </a:r>
          </a:p>
        </p:txBody>
      </p:sp>
    </p:spTree>
    <p:extLst>
      <p:ext uri="{BB962C8B-B14F-4D97-AF65-F5344CB8AC3E}">
        <p14:creationId xmlns:p14="http://schemas.microsoft.com/office/powerpoint/2010/main" val="1893053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B9D5AD4-0B01-47E5-A369-5CE3ECD6288B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A8B16-2ED8-4D4E-B8D0-F9777E4ED993}"/>
              </a:ext>
            </a:extLst>
          </p:cNvPr>
          <p:cNvSpPr>
            <a:spLocks noGrp="1"/>
          </p:cNvSpPr>
          <p:nvPr/>
        </p:nvSpPr>
        <p:spPr>
          <a:xfrm>
            <a:off x="11191875" y="333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ACC593-A84F-4A97-A41B-2A75B522BB37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DeskFlow meets the core hot-desk booking brief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6548EB-4090-436E-8D6B-8255FBEA538E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The solution is intentionally focused: make one daily workspace reservation reliable.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C7255D-4944-4614-B004-448B8979AA48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63300" cy="9525"/>
          </a:xfrm>
          <a:prstGeom prst="rect">
            <a:avLst/>
          </a:prstGeom>
          <a:solidFill>
            <a:srgbClr val="D4DED5"/>
          </a:solidFill>
          <a:ln w="0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0AF566-0813-4EBC-9629-53DDAEE46DCC}"/>
              </a:ext>
            </a:extLst>
          </p:cNvPr>
          <p:cNvSpPr>
            <a:spLocks noGrp="1"/>
          </p:cNvSpPr>
          <p:nvPr/>
        </p:nvSpPr>
        <p:spPr>
          <a:xfrm>
            <a:off x="514350" y="23145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 w="9525">
            <a:solidFill>
              <a:srgbClr val="DF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4C158-86A5-4012-BBE9-D0E4ED755C05}"/>
              </a:ext>
            </a:extLst>
          </p:cNvPr>
          <p:cNvSpPr>
            <a:spLocks noGrp="1"/>
          </p:cNvSpPr>
          <p:nvPr/>
        </p:nvSpPr>
        <p:spPr>
          <a:xfrm>
            <a:off x="571500" y="234315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35" lnSpcReduction="10000"/>
          </a:bodyPr>
          <a:lstStyle/>
          <a:p>
            <a:pPr algn="ctr">
              <a:def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187603-6130-4D0A-A8C7-EC513E9E0A96}"/>
              </a:ext>
            </a:extLst>
          </p:cNvPr>
          <p:cNvSpPr>
            <a:spLocks noGrp="1"/>
          </p:cNvSpPr>
          <p:nvPr/>
        </p:nvSpPr>
        <p:spPr>
          <a:xfrm>
            <a:off x="1009650" y="2266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Health check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CB4546-3021-4A21-BB78-A8F558BF89D3}"/>
              </a:ext>
            </a:extLst>
          </p:cNvPr>
          <p:cNvSpPr>
            <a:spLocks noGrp="1"/>
          </p:cNvSpPr>
          <p:nvPr/>
        </p:nvSpPr>
        <p:spPr>
          <a:xfrm>
            <a:off x="3590925" y="2295525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GET /api/health returns status ok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C79B8E8-84DB-4456-8926-50871213B555}"/>
              </a:ext>
            </a:extLst>
          </p:cNvPr>
          <p:cNvSpPr>
            <a:spLocks noGrp="1"/>
          </p:cNvSpPr>
          <p:nvPr/>
        </p:nvSpPr>
        <p:spPr>
          <a:xfrm>
            <a:off x="514350" y="30003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 w="9525">
            <a:solidFill>
              <a:srgbClr val="DF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1B4F3E-7A0F-4154-9881-2C3159EBDDB0}"/>
              </a:ext>
            </a:extLst>
          </p:cNvPr>
          <p:cNvSpPr>
            <a:spLocks noGrp="1"/>
          </p:cNvSpPr>
          <p:nvPr/>
        </p:nvSpPr>
        <p:spPr>
          <a:xfrm>
            <a:off x="571500" y="302895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35" lnSpcReduction="10000"/>
          </a:bodyPr>
          <a:lstStyle/>
          <a:p>
            <a:pPr algn="ctr">
              <a:def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AFC120-003E-4357-B8DE-2D41505C548E}"/>
              </a:ext>
            </a:extLst>
          </p:cNvPr>
          <p:cNvSpPr>
            <a:spLocks noGrp="1"/>
          </p:cNvSpPr>
          <p:nvPr/>
        </p:nvSpPr>
        <p:spPr>
          <a:xfrm>
            <a:off x="1009650" y="2952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Required endpoints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C4D238-7089-4E6C-A6AE-068A50E712D5}"/>
              </a:ext>
            </a:extLst>
          </p:cNvPr>
          <p:cNvSpPr>
            <a:spLocks noGrp="1"/>
          </p:cNvSpPr>
          <p:nvPr/>
        </p:nvSpPr>
        <p:spPr>
          <a:xfrm>
            <a:off x="3590925" y="2981325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List desks, create/list/cancel bookings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0CC87D-901C-425D-96F7-B8AE5A3E313F}"/>
              </a:ext>
            </a:extLst>
          </p:cNvPr>
          <p:cNvSpPr>
            <a:spLocks noGrp="1"/>
          </p:cNvSpPr>
          <p:nvPr/>
        </p:nvSpPr>
        <p:spPr>
          <a:xfrm>
            <a:off x="514350" y="36861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 w="9525">
            <a:solidFill>
              <a:srgbClr val="DF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EA5757-4E67-473A-8145-BBB93164698A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35" lnSpcReduction="10000"/>
          </a:bodyPr>
          <a:lstStyle/>
          <a:p>
            <a:pPr algn="ctr">
              <a:def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8B5DB9-0B77-4901-A886-922B33E7059A}"/>
              </a:ext>
            </a:extLst>
          </p:cNvPr>
          <p:cNvSpPr>
            <a:spLocks noGrp="1"/>
          </p:cNvSpPr>
          <p:nvPr/>
        </p:nvSpPr>
        <p:spPr>
          <a:xfrm>
            <a:off x="1009650" y="36385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Availability feature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821430-F1DB-4A49-831A-AF375B10D83D}"/>
              </a:ext>
            </a:extLst>
          </p:cNvPr>
          <p:cNvSpPr>
            <a:spLocks noGrp="1"/>
          </p:cNvSpPr>
          <p:nvPr/>
        </p:nvSpPr>
        <p:spPr>
          <a:xfrm>
            <a:off x="3590925" y="3667125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Free active desks by date + filters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5826BED-3896-497F-857F-E2DE3BD13311}"/>
              </a:ext>
            </a:extLst>
          </p:cNvPr>
          <p:cNvSpPr>
            <a:spLocks noGrp="1"/>
          </p:cNvSpPr>
          <p:nvPr/>
        </p:nvSpPr>
        <p:spPr>
          <a:xfrm>
            <a:off x="514350" y="43719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 w="9525">
            <a:solidFill>
              <a:srgbClr val="DF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7D14F-C098-407F-9A3F-7A3FB8C00831}"/>
              </a:ext>
            </a:extLst>
          </p:cNvPr>
          <p:cNvSpPr>
            <a:spLocks noGrp="1"/>
          </p:cNvSpPr>
          <p:nvPr/>
        </p:nvSpPr>
        <p:spPr>
          <a:xfrm>
            <a:off x="571500" y="440055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35" lnSpcReduction="10000"/>
          </a:bodyPr>
          <a:lstStyle/>
          <a:p>
            <a:pPr algn="ctr">
              <a:def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08D0E5-CD66-466C-8797-D5E0F713DC4C}"/>
              </a:ext>
            </a:extLst>
          </p:cNvPr>
          <p:cNvSpPr>
            <a:spLocks noGrp="1"/>
          </p:cNvSpPr>
          <p:nvPr/>
        </p:nvSpPr>
        <p:spPr>
          <a:xfrm>
            <a:off x="1009650" y="4324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Integrity rule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B3D0B6-7B52-4A6B-B9D9-0E692616958F}"/>
              </a:ext>
            </a:extLst>
          </p:cNvPr>
          <p:cNvSpPr>
            <a:spLocks noGrp="1"/>
          </p:cNvSpPr>
          <p:nvPr/>
        </p:nvSpPr>
        <p:spPr>
          <a:xfrm>
            <a:off x="3590925" y="4352925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One booking per desk per date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0D072ED-7E9E-4B5C-A7AC-8AA2DCBDE011}"/>
              </a:ext>
            </a:extLst>
          </p:cNvPr>
          <p:cNvSpPr>
            <a:spLocks noGrp="1"/>
          </p:cNvSpPr>
          <p:nvPr/>
        </p:nvSpPr>
        <p:spPr>
          <a:xfrm>
            <a:off x="514350" y="5057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 w="9525">
            <a:solidFill>
              <a:srgbClr val="DF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96A415-9242-4B8D-A662-92CB99FAA67E}"/>
              </a:ext>
            </a:extLst>
          </p:cNvPr>
          <p:cNvSpPr>
            <a:spLocks noGrp="1"/>
          </p:cNvSpPr>
          <p:nvPr/>
        </p:nvSpPr>
        <p:spPr>
          <a:xfrm>
            <a:off x="571500" y="508635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35" lnSpcReduction="10000"/>
          </a:bodyPr>
          <a:lstStyle/>
          <a:p>
            <a:pPr algn="ctr">
              <a:def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F85EE2-0AE5-4F1C-90BA-3ED9BB6F79BD}"/>
              </a:ext>
            </a:extLst>
          </p:cNvPr>
          <p:cNvSpPr>
            <a:spLocks noGrp="1"/>
          </p:cNvSpPr>
          <p:nvPr/>
        </p:nvSpPr>
        <p:spPr>
          <a:xfrm>
            <a:off x="1009650" y="5010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C44275-A68E-471A-931F-85B188FDA6E7}"/>
              </a:ext>
            </a:extLst>
          </p:cNvPr>
          <p:cNvSpPr>
            <a:spLocks noGrp="1"/>
          </p:cNvSpPr>
          <p:nvPr/>
        </p:nvSpPr>
        <p:spPr>
          <a:xfrm>
            <a:off x="3590925" y="5038725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Browse, book, and cancel in one page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61613D-1161-4C18-AD8B-EB823E322CD2}"/>
              </a:ext>
            </a:extLst>
          </p:cNvPr>
          <p:cNvSpPr>
            <a:spLocks noGrp="1"/>
          </p:cNvSpPr>
          <p:nvPr/>
        </p:nvSpPr>
        <p:spPr>
          <a:xfrm>
            <a:off x="514350" y="6467475"/>
            <a:ext cx="742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DeskFlow · Hot desk booking for the Helsinki office</a:t>
            </a:r>
          </a:p>
        </p:txBody>
      </p:sp>
    </p:spTree>
    <p:extLst>
      <p:ext uri="{BB962C8B-B14F-4D97-AF65-F5344CB8AC3E}">
        <p14:creationId xmlns:p14="http://schemas.microsoft.com/office/powerpoint/2010/main" val="625691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C77C3BB-BDF0-4D87-8856-47665D891CA5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9DED14-A151-4011-9BA3-4297E5BB8942}"/>
              </a:ext>
            </a:extLst>
          </p:cNvPr>
          <p:cNvSpPr>
            <a:spLocks noGrp="1"/>
          </p:cNvSpPr>
          <p:nvPr/>
        </p:nvSpPr>
        <p:spPr>
          <a:xfrm>
            <a:off x="11191875" y="333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BC969E-2744-44D8-9A3B-6DA5E40455BE}"/>
              </a:ext>
            </a:extLst>
          </p:cNvPr>
          <p:cNvSpPr>
            <a:spLocks noGrp="1"/>
          </p:cNvSpPr>
          <p:nvPr/>
        </p:nvSpPr>
        <p:spPr>
          <a:xfrm>
            <a:off x="514350" y="771525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The road ahead builds on a stable core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5E543B-FC6B-4253-BE2C-A6054A47B87E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Future scope adds convenience and trust without diluting the booking rules.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C25C7F-E923-4424-A69B-5B46844D896A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63300" cy="9525"/>
          </a:xfrm>
          <a:prstGeom prst="rect">
            <a:avLst/>
          </a:prstGeom>
          <a:solidFill>
            <a:srgbClr val="D4DED5"/>
          </a:solidFill>
          <a:ln w="0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005D56A-43F8-4495-B12C-48EE11B2C1EC}"/>
              </a:ext>
            </a:extLst>
          </p:cNvPr>
          <p:cNvSpPr>
            <a:spLocks noGrp="1"/>
          </p:cNvSpPr>
          <p:nvPr/>
        </p:nvSpPr>
        <p:spPr>
          <a:xfrm>
            <a:off x="514350" y="2705100"/>
            <a:ext cx="3333750" cy="2190750"/>
          </a:xfrm>
          <a:prstGeom prst="roundRect">
            <a:avLst>
              <a:gd name="adj" fmla="val 5217"/>
            </a:avLst>
          </a:prstGeom>
          <a:solidFill>
            <a:srgbClr val="DFF3EA"/>
          </a:solidFill>
          <a:ln w="9525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AF222C0-1427-4C5E-BC71-DE3464FA22FB}"/>
              </a:ext>
            </a:extLst>
          </p:cNvPr>
          <p:cNvSpPr>
            <a:spLocks noGrp="1"/>
          </p:cNvSpPr>
          <p:nvPr/>
        </p:nvSpPr>
        <p:spPr>
          <a:xfrm>
            <a:off x="723900" y="2924175"/>
            <a:ext cx="857250" cy="304800"/>
          </a:xfrm>
          <a:prstGeom prst="roundRect">
            <a:avLst>
              <a:gd name="adj" fmla="val 50000"/>
            </a:avLst>
          </a:prstGeom>
          <a:solidFill>
            <a:srgbClr val="0D7C59"/>
          </a:solidFill>
          <a:ln w="9525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A07BE-2290-41E7-ADE6-94887F0A3C3F}"/>
              </a:ext>
            </a:extLst>
          </p:cNvPr>
          <p:cNvSpPr>
            <a:spLocks noGrp="1"/>
          </p:cNvSpPr>
          <p:nvPr/>
        </p:nvSpPr>
        <p:spPr>
          <a:xfrm>
            <a:off x="723900" y="3000375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C1358A-112E-4113-A7F8-B228F01FE8D9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762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Working vertical slice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CB85C9-72A2-476F-B267-D4DFEC73F531}"/>
              </a:ext>
            </a:extLst>
          </p:cNvPr>
          <p:cNvSpPr>
            <a:spLocks noGrp="1"/>
          </p:cNvSpPr>
          <p:nvPr/>
        </p:nvSpPr>
        <p:spPr>
          <a:xfrm>
            <a:off x="723900" y="4219575"/>
            <a:ext cx="280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Availability, booking, conflict handling, cancellation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A923B4-9A60-4378-A8AD-2AAD1582B1B2}"/>
              </a:ext>
            </a:extLst>
          </p:cNvPr>
          <p:cNvSpPr>
            <a:spLocks noGrp="1"/>
          </p:cNvSpPr>
          <p:nvPr/>
        </p:nvSpPr>
        <p:spPr>
          <a:xfrm>
            <a:off x="3857625" y="3819525"/>
            <a:ext cx="123825" cy="28575"/>
          </a:xfrm>
          <a:prstGeom prst="rect">
            <a:avLst/>
          </a:prstGeom>
          <a:solidFill>
            <a:srgbClr val="9FCFBC"/>
          </a:solidFill>
          <a:ln w="0">
            <a:solidFill>
              <a:srgbClr val="9FC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F0D05D7E-A99B-4B53-8B6F-EF4755566D5D}"/>
              </a:ext>
            </a:extLst>
          </p:cNvPr>
          <p:cNvSpPr>
            <a:spLocks noGrp="1"/>
          </p:cNvSpPr>
          <p:nvPr/>
        </p:nvSpPr>
        <p:spPr>
          <a:xfrm>
            <a:off x="3943350" y="3743325"/>
            <a:ext cx="171450" cy="171450"/>
          </a:xfrm>
          <a:prstGeom prst="triangle">
            <a:avLst/>
          </a:prstGeom>
          <a:solidFill>
            <a:srgbClr val="9FCFBC"/>
          </a:solidFill>
          <a:ln w="0">
            <a:solidFill>
              <a:srgbClr val="9FC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6F10E6-890C-4A27-B046-869BF6A213D0}"/>
              </a:ext>
            </a:extLst>
          </p:cNvPr>
          <p:cNvSpPr>
            <a:spLocks noGrp="1"/>
          </p:cNvSpPr>
          <p:nvPr/>
        </p:nvSpPr>
        <p:spPr>
          <a:xfrm>
            <a:off x="4229100" y="2705100"/>
            <a:ext cx="33337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218CBB7-216E-46CA-B419-16A1CCFDB544}"/>
              </a:ext>
            </a:extLst>
          </p:cNvPr>
          <p:cNvSpPr>
            <a:spLocks noGrp="1"/>
          </p:cNvSpPr>
          <p:nvPr/>
        </p:nvSpPr>
        <p:spPr>
          <a:xfrm>
            <a:off x="4438650" y="2924175"/>
            <a:ext cx="857250" cy="304800"/>
          </a:xfrm>
          <a:prstGeom prst="roundRect">
            <a:avLst>
              <a:gd name="adj" fmla="val 50000"/>
            </a:avLst>
          </a:prstGeom>
          <a:solidFill>
            <a:srgbClr val="E8EEE9"/>
          </a:solidFill>
          <a:ln w="9525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D08423-33AF-4D07-97A0-45E3353F18B6}"/>
              </a:ext>
            </a:extLst>
          </p:cNvPr>
          <p:cNvSpPr>
            <a:spLocks noGrp="1"/>
          </p:cNvSpPr>
          <p:nvPr/>
        </p:nvSpPr>
        <p:spPr>
          <a:xfrm>
            <a:off x="4438650" y="3000375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ctr">
              <a:defRPr sz="1050" b="1">
                <a:solidFill>
                  <a:srgbClr val="274B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4B3E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22C087-F6B5-4AFA-8576-7BC85F3FE3B6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2762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Identity and teams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86120E-E5D8-4F96-BA50-229DFF157DF7}"/>
              </a:ext>
            </a:extLst>
          </p:cNvPr>
          <p:cNvSpPr>
            <a:spLocks noGrp="1"/>
          </p:cNvSpPr>
          <p:nvPr/>
        </p:nvSpPr>
        <p:spPr>
          <a:xfrm>
            <a:off x="4438650" y="4219575"/>
            <a:ext cx="280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Authentication, employee directory, ownership checks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7A5236-F86D-4AE4-AD9A-6B0EF8527B10}"/>
              </a:ext>
            </a:extLst>
          </p:cNvPr>
          <p:cNvSpPr>
            <a:spLocks noGrp="1"/>
          </p:cNvSpPr>
          <p:nvPr/>
        </p:nvSpPr>
        <p:spPr>
          <a:xfrm>
            <a:off x="7572375" y="3819525"/>
            <a:ext cx="123825" cy="28575"/>
          </a:xfrm>
          <a:prstGeom prst="rect">
            <a:avLst/>
          </a:prstGeom>
          <a:solidFill>
            <a:srgbClr val="9FCFBC"/>
          </a:solidFill>
          <a:ln w="0">
            <a:solidFill>
              <a:srgbClr val="9FC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05FA3A3C-1103-4B32-9FB7-15D553CDC880}"/>
              </a:ext>
            </a:extLst>
          </p:cNvPr>
          <p:cNvSpPr>
            <a:spLocks noGrp="1"/>
          </p:cNvSpPr>
          <p:nvPr/>
        </p:nvSpPr>
        <p:spPr>
          <a:xfrm>
            <a:off x="7658100" y="3743325"/>
            <a:ext cx="171450" cy="171450"/>
          </a:xfrm>
          <a:prstGeom prst="triangle">
            <a:avLst/>
          </a:prstGeom>
          <a:solidFill>
            <a:srgbClr val="9FCFBC"/>
          </a:solidFill>
          <a:ln w="0">
            <a:solidFill>
              <a:srgbClr val="9FCF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706F45D-0BD8-4728-BBF8-1CA01DECDA9A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33337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4DE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FFBC3D8-D746-4844-BCC3-20E7666C027F}"/>
              </a:ext>
            </a:extLst>
          </p:cNvPr>
          <p:cNvSpPr>
            <a:spLocks noGrp="1"/>
          </p:cNvSpPr>
          <p:nvPr/>
        </p:nvSpPr>
        <p:spPr>
          <a:xfrm>
            <a:off x="8153400" y="2924175"/>
            <a:ext cx="857250" cy="304800"/>
          </a:xfrm>
          <a:prstGeom prst="roundRect">
            <a:avLst>
              <a:gd name="adj" fmla="val 50000"/>
            </a:avLst>
          </a:prstGeom>
          <a:solidFill>
            <a:srgbClr val="E8EEE9"/>
          </a:solidFill>
          <a:ln w="9525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49472D-32AB-45CB-B3CA-C352B549E26B}"/>
              </a:ext>
            </a:extLst>
          </p:cNvPr>
          <p:cNvSpPr>
            <a:spLocks noGrp="1"/>
          </p:cNvSpPr>
          <p:nvPr/>
        </p:nvSpPr>
        <p:spPr>
          <a:xfrm>
            <a:off x="8153400" y="3000375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ctr">
              <a:defRPr sz="1050" b="1">
                <a:solidFill>
                  <a:srgbClr val="274B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4B3E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ECF1AB-8306-4D5A-99B3-68C61E941475}"/>
              </a:ext>
            </a:extLst>
          </p:cNvPr>
          <p:cNvSpPr>
            <a:spLocks noGrp="1"/>
          </p:cNvSpPr>
          <p:nvPr/>
        </p:nvSpPr>
        <p:spPr>
          <a:xfrm>
            <a:off x="8153400" y="3524250"/>
            <a:ext cx="2762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Planning at scale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2657A2-B8DD-480D-A81A-39F8F960F2B2}"/>
              </a:ext>
            </a:extLst>
          </p:cNvPr>
          <p:cNvSpPr>
            <a:spLocks noGrp="1"/>
          </p:cNvSpPr>
          <p:nvPr/>
        </p:nvSpPr>
        <p:spPr>
          <a:xfrm>
            <a:off x="8153400" y="4219575"/>
            <a:ext cx="280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Recurring reservations, calendar integration, analytics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F87234-11AD-478D-9B89-233006DEFA18}"/>
              </a:ext>
            </a:extLst>
          </p:cNvPr>
          <p:cNvSpPr>
            <a:spLocks noGrp="1"/>
          </p:cNvSpPr>
          <p:nvPr/>
        </p:nvSpPr>
        <p:spPr>
          <a:xfrm>
            <a:off x="514350" y="6467475"/>
            <a:ext cx="742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DeskFlow · Hot desk booking for the Helsinki office</a:t>
            </a:r>
          </a:p>
        </p:txBody>
      </p:sp>
    </p:spTree>
    <p:extLst>
      <p:ext uri="{BB962C8B-B14F-4D97-AF65-F5344CB8AC3E}">
        <p14:creationId xmlns:p14="http://schemas.microsoft.com/office/powerpoint/2010/main" val="502175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C9DBB1E-4431-4B66-8839-902CF4F59F16}"/>
              </a:ext>
            </a:extLst>
          </p:cNvPr>
          <p:cNvSpPr>
            <a:spLocks noGrp="1"/>
          </p:cNvSpPr>
          <p:nvPr/>
        </p:nvSpPr>
        <p:spPr>
          <a:xfrm>
            <a:off x="590550" y="47625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D7C59"/>
                </a:solidFill>
                <a:latin typeface="Helvetica Neue"/>
                <a:ea typeface="Helvetica Neue"/>
                <a:cs typeface="Helvetica Neue"/>
              </a:rPr>
              <a:t>DESKFLOW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7D78B1-5667-4C9E-B41D-287CDEA5F1B3}"/>
              </a:ext>
            </a:extLst>
          </p:cNvPr>
          <p:cNvSpPr>
            <a:spLocks noGrp="1"/>
          </p:cNvSpPr>
          <p:nvPr/>
        </p:nvSpPr>
        <p:spPr>
          <a:xfrm>
            <a:off x="590550" y="2009775"/>
            <a:ext cx="6381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5251F"/>
                </a:solidFill>
                <a:latin typeface="Helvetica Neue"/>
                <a:ea typeface="Helvetica Neue"/>
                <a:cs typeface="Helvetica Neue"/>
              </a:rPr>
              <a:t>Thank you.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011F7C-048B-40A0-8E8B-E3E261BEA7A1}"/>
              </a:ext>
            </a:extLst>
          </p:cNvPr>
          <p:cNvSpPr>
            <a:spLocks noGrp="1"/>
          </p:cNvSpPr>
          <p:nvPr/>
        </p:nvSpPr>
        <p:spPr>
          <a:xfrm>
            <a:off x="590550" y="2981325"/>
            <a:ext cx="561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A desk, when you need 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253082-1699-4B2B-90A1-9F58908624E8}"/>
              </a:ext>
            </a:extLst>
          </p:cNvPr>
          <p:cNvSpPr>
            <a:spLocks noGrp="1"/>
          </p:cNvSpPr>
          <p:nvPr/>
        </p:nvSpPr>
        <p:spPr>
          <a:xfrm>
            <a:off x="590550" y="3876675"/>
            <a:ext cx="4953000" cy="19050"/>
          </a:xfrm>
          <a:prstGeom prst="rect">
            <a:avLst/>
          </a:prstGeom>
          <a:solidFill>
            <a:srgbClr val="0D7C59"/>
          </a:solidFill>
          <a:ln w="0">
            <a:solidFill>
              <a:srgbClr val="0D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8694F-8BF1-4914-938D-73332E8D609E}"/>
              </a:ext>
            </a:extLst>
          </p:cNvPr>
          <p:cNvSpPr>
            <a:spLocks noGrp="1"/>
          </p:cNvSpPr>
          <p:nvPr/>
        </p:nvSpPr>
        <p:spPr>
          <a:xfrm>
            <a:off x="590550" y="43434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274B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74B3E"/>
                </a:solidFill>
                <a:latin typeface="Helvetica Neue"/>
                <a:ea typeface="Helvetica Neue"/>
                <a:cs typeface="Helvetica Neue"/>
              </a:rPr>
              <a:t>Questions?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B69C7C-50D6-4305-858C-4D5B732266BE}"/>
              </a:ext>
            </a:extLst>
          </p:cNvPr>
          <p:cNvSpPr>
            <a:spLocks noGrp="1"/>
          </p:cNvSpPr>
          <p:nvPr/>
        </p:nvSpPr>
        <p:spPr>
          <a:xfrm>
            <a:off x="590550" y="5133975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Demo endpoint: /api/desks/availability?date=2026-07-24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DB981A-44C2-4E5F-A705-A28E684ED032}"/>
              </a:ext>
            </a:extLst>
          </p:cNvPr>
          <p:cNvSpPr>
            <a:spLocks noGrp="1"/>
          </p:cNvSpPr>
          <p:nvPr/>
        </p:nvSpPr>
        <p:spPr>
          <a:xfrm>
            <a:off x="8982075" y="1857375"/>
            <a:ext cx="2057400" cy="2324100"/>
          </a:xfrm>
          <a:prstGeom prst="roundRect">
            <a:avLst>
              <a:gd name="adj" fmla="val 5556"/>
            </a:avLst>
          </a:prstGeom>
          <a:solidFill>
            <a:srgbClr val="274B3E"/>
          </a:solidFill>
          <a:ln w="9525">
            <a:solidFill>
              <a:srgbClr val="274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36D184-9E5A-4E3F-A49E-8E1DEEF7A7B6}"/>
              </a:ext>
            </a:extLst>
          </p:cNvPr>
          <p:cNvSpPr>
            <a:spLocks noGrp="1"/>
          </p:cNvSpPr>
          <p:nvPr/>
        </p:nvSpPr>
        <p:spPr>
          <a:xfrm>
            <a:off x="9296400" y="2324100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389" lnSpcReduction="10000"/>
          </a:bodyPr>
          <a:lstStyle/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DESK</a:t>
            </a:r>
          </a:p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8A4810-E04D-4824-845C-AAC35C7711E7}"/>
              </a:ext>
            </a:extLst>
          </p:cNvPr>
          <p:cNvSpPr>
            <a:spLocks noGrp="1"/>
          </p:cNvSpPr>
          <p:nvPr/>
        </p:nvSpPr>
        <p:spPr>
          <a:xfrm>
            <a:off x="9296400" y="34956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DF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FF3EA"/>
                </a:solidFill>
                <a:latin typeface="Helvetica Neue"/>
                <a:ea typeface="Helvetica Neue"/>
                <a:cs typeface="Helvetica Neue"/>
              </a:rPr>
              <a:t>Find • book • 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13082E-E161-4641-BABB-7ED93AAA4314}"/>
              </a:ext>
            </a:extLst>
          </p:cNvPr>
          <p:cNvSpPr>
            <a:spLocks noGrp="1"/>
          </p:cNvSpPr>
          <p:nvPr/>
        </p:nvSpPr>
        <p:spPr>
          <a:xfrm>
            <a:off x="514350" y="6467475"/>
            <a:ext cx="742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067"/>
                </a:solidFill>
                <a:latin typeface="Helvetica Neue"/>
                <a:ea typeface="Helvetica Neue"/>
                <a:cs typeface="Helvetica Neue"/>
              </a:rPr>
              <a:t>DeskFlow · Hot desk booking for the Helsinki office</a:t>
            </a:r>
          </a:p>
        </p:txBody>
      </p:sp>
    </p:spTree>
    <p:extLst>
      <p:ext uri="{BB962C8B-B14F-4D97-AF65-F5344CB8AC3E}">
        <p14:creationId xmlns:p14="http://schemas.microsoft.com/office/powerpoint/2010/main" val="12391298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</Words>
  <Application>Microsoft Macintosh PowerPoint</Application>
  <DocSecurity>0</DocSecurity>
  <PresentationFormat>Widescreen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xzhao09@student.ubc.ca</cp:lastModifiedBy>
  <cp:revision>1</cp:revision>
  <dcterms:created xsi:type="dcterms:W3CDTF">2026-07-23T06:53:55Z</dcterms:created>
  <dcterms:modified xsi:type="dcterms:W3CDTF">2026-07-23T07:17:23Z</dcterms:modified>
</cp:coreProperties>
</file>